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j_b_c16x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5852160" cy="6858000"/>
          </a:xfrm>
          <a:prstGeom prst="rect">
            <a:avLst/>
          </a:prstGeom>
          <a:solidFill>
            <a:srgbClr val="0F0F0F">
              <a:alpha val="8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E6F45"/>
                </a:solidFill>
                <a:latin typeface="Inter"/>
              </a:rPr>
              <a:t>FORSLAG TIL HOUDINI SPORTSWEAR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5000" b="1">
                <a:solidFill>
                  <a:srgbClr val="FFFFFF"/>
                </a:solidFill>
                <a:latin typeface="Inter"/>
              </a:rPr>
              <a:t>Houdini i Norge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246120"/>
            <a:ext cx="48463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Inter"/>
              </a:rPr>
              <a:t>Riktig sted i Oslo og Tromsø, levert nøkkelferdig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669280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Inter"/>
              </a:rPr>
              <a:t>Bent Finset, i samarbeid med SODAI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Inter"/>
              </a:rPr>
              <a:t>Oktober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99855" y="6446520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FFFFFF"/>
                </a:solidFill>
                <a:latin typeface="Inter"/>
              </a:rPr>
              <a:t>Illustrasjon av konsept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474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A86"/>
                </a:solidFill>
                <a:latin typeface="Inter"/>
              </a:rPr>
              <a:t>SAMMENDRAG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474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8A8A86"/>
                </a:solidFill>
                <a:latin typeface="Inter"/>
              </a:rPr>
              <a:t>Forslag til Houdini Sportswear  ·  Bent Finset / SODAI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12772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F0F0F"/>
                </a:solidFill>
                <a:latin typeface="Inter"/>
              </a:rPr>
              <a:t>Houdini bør stå der Norrøna og Arc’teryx står, i Oslo og i Tromsø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783080"/>
            <a:ext cx="2647873" cy="45720"/>
          </a:xfrm>
          <a:prstGeom prst="rect">
            <a:avLst/>
          </a:prstGeom>
          <a:solidFill>
            <a:srgbClr val="0F0F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011680"/>
            <a:ext cx="264787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0F0F0F"/>
                </a:solidFill>
                <a:latin typeface="Inter"/>
              </a:rPr>
              <a:t>Pris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06040"/>
            <a:ext cx="2556433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0F0F0F"/>
                </a:solidFill>
                <a:latin typeface="Inter"/>
              </a:rPr>
              <a:t>Houdini ligger i premiumsegmentet med Norrøna og Arc’teryx, 35 % over Bergans.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3333673" y="1783080"/>
            <a:ext cx="2647873" cy="45720"/>
          </a:xfrm>
          <a:prstGeom prst="rect">
            <a:avLst/>
          </a:prstGeom>
          <a:solidFill>
            <a:srgbClr val="0F0F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33673" y="2011680"/>
            <a:ext cx="264787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0F0F0F"/>
                </a:solidFill>
                <a:latin typeface="Inter"/>
              </a:rPr>
              <a:t>Oslo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3673" y="2606040"/>
            <a:ext cx="2556433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0F0F0F"/>
                </a:solidFill>
                <a:latin typeface="Inter"/>
              </a:rPr>
              <a:t>Akersgata 41 ligger i konkurrentklyngen ved Egertorget, med fem ganger arealet i Hegdehaugsveien.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0146" y="1783080"/>
            <a:ext cx="2647873" cy="45720"/>
          </a:xfrm>
          <a:prstGeom prst="rect">
            <a:avLst/>
          </a:prstGeom>
          <a:solidFill>
            <a:srgbClr val="0F0F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0146" y="2011680"/>
            <a:ext cx="264787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0F0F0F"/>
                </a:solidFill>
                <a:latin typeface="Inter"/>
              </a:rPr>
              <a:t>Tromsø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0146" y="2606040"/>
            <a:ext cx="2556433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0F0F0F"/>
                </a:solidFill>
                <a:latin typeface="Inter"/>
              </a:rPr>
              <a:t>Test med vinterutleie. Fast butikk i Mack Kvartalet når hotellet åpner sommeren 2027.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086619" y="1783080"/>
            <a:ext cx="2647873" cy="45720"/>
          </a:xfrm>
          <a:prstGeom prst="rect">
            <a:avLst/>
          </a:prstGeom>
          <a:solidFill>
            <a:srgbClr val="0F0F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86619" y="2011680"/>
            <a:ext cx="264787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0F0F0F"/>
                </a:solidFill>
                <a:latin typeface="Inter"/>
              </a:rPr>
              <a:t>Leveranse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86619" y="2606040"/>
            <a:ext cx="2556433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0F0F0F"/>
                </a:solidFill>
                <a:latin typeface="Inter"/>
              </a:rPr>
              <a:t>SODAI leverer nøkkelferdig. Forprosjekt med illustrasjoner er gratis og uforpliktende.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291072"/>
            <a:ext cx="11277295" cy="4114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A8A86"/>
                </a:solidFill>
                <a:latin typeface="Inter"/>
              </a:rPr>
              <a:t>Kilder og forbehold står på hver side.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474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A86"/>
                </a:solidFill>
                <a:latin typeface="Inter"/>
              </a:rPr>
              <a:t>SEGMENT OG PRIS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474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8A8A86"/>
                </a:solidFill>
                <a:latin typeface="Inter"/>
              </a:rPr>
              <a:t>Forslag til Houdini Sportswear  ·  Bent Finset / SODAI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12772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F0F0F"/>
                </a:solidFill>
                <a:latin typeface="Inter"/>
              </a:rPr>
              <a:t>Houdini ligger i premiumsegmentet: 35 % over Bergans, nær Norrøna og Arc’teryx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691640"/>
          <a:ext cx="7589520" cy="36576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834640"/>
                <a:gridCol w="1188720"/>
                <a:gridCol w="1188720"/>
                <a:gridCol w="1188720"/>
                <a:gridCol w="118872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F0F0F"/>
                          </a:solidFill>
                          <a:latin typeface="Inter"/>
                        </a:rPr>
                        <a:t>Ordinær pris, kr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1C1F1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0F0F0F"/>
                          </a:solidFill>
                          <a:latin typeface="Inter"/>
                        </a:rPr>
                        <a:t>Houdini</a:t>
                      </a:r>
                    </a:p>
                  </a:txBody>
                  <a:tcPr marL="73152" marR="73152" marT="27432" marB="27432" anchor="ctr">
                    <a:solidFill>
                      <a:srgbClr val="FFEBE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1C1F1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0F0F0F"/>
                          </a:solidFill>
                          <a:latin typeface="Inter"/>
                        </a:rPr>
                        <a:t>Norrøna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1C1F1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0F0F0F"/>
                          </a:solidFill>
                          <a:latin typeface="Inter"/>
                        </a:rPr>
                        <a:t>Arc’teryx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1C1F1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0F0F0F"/>
                          </a:solidFill>
                          <a:latin typeface="Inter"/>
                        </a:rPr>
                        <a:t>Bergans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1C1F1D"/>
                      </a:solidFill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F0F0F"/>
                          </a:solidFill>
                          <a:latin typeface="Inter"/>
                        </a:rPr>
                        <a:t>Flaggskip skalljakke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0F0F0F"/>
                          </a:solidFill>
                          <a:latin typeface="Inter"/>
                        </a:rPr>
                        <a:t>7 000</a:t>
                      </a:r>
                    </a:p>
                  </a:txBody>
                  <a:tcPr marL="73152" marR="73152" marT="27432" marB="27432" anchor="ctr">
                    <a:solidFill>
                      <a:srgbClr val="FFEBE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0F0F0F"/>
                          </a:solidFill>
                          <a:latin typeface="Inter"/>
                        </a:rPr>
                        <a:t>9 999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0F0F0F"/>
                          </a:solidFill>
                          <a:latin typeface="Inter"/>
                        </a:rPr>
                        <a:t>10 499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0F0F0F"/>
                          </a:solidFill>
                          <a:latin typeface="Inter"/>
                        </a:rPr>
                        <a:t>4 500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F0F0F"/>
                          </a:solidFill>
                          <a:latin typeface="Inter"/>
                        </a:rPr>
                        <a:t>Rimeligste skalljakke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0F0F0F"/>
                          </a:solidFill>
                          <a:latin typeface="Inter"/>
                        </a:rPr>
                        <a:t>4 000</a:t>
                      </a:r>
                    </a:p>
                  </a:txBody>
                  <a:tcPr marL="73152" marR="73152" marT="27432" marB="27432" anchor="ctr">
                    <a:solidFill>
                      <a:srgbClr val="FFEBE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0F0F0F"/>
                          </a:solidFill>
                          <a:latin typeface="Inter"/>
                        </a:rPr>
                        <a:t>3 999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0F0F0F"/>
                          </a:solidFill>
                          <a:latin typeface="Inter"/>
                        </a:rPr>
                        <a:t>4 499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0F0F0F"/>
                          </a:solidFill>
                          <a:latin typeface="Inter"/>
                        </a:rPr>
                        <a:t>2 799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F0F0F"/>
                          </a:solidFill>
                          <a:latin typeface="Inter"/>
                        </a:rPr>
                        <a:t>Fleece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0F0F0F"/>
                          </a:solidFill>
                          <a:latin typeface="Inter"/>
                        </a:rPr>
                        <a:t>2 400</a:t>
                      </a:r>
                    </a:p>
                  </a:txBody>
                  <a:tcPr marL="73152" marR="73152" marT="27432" marB="27432" anchor="ctr">
                    <a:solidFill>
                      <a:srgbClr val="FFEBE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0F0F0F"/>
                          </a:solidFill>
                          <a:latin typeface="Inter"/>
                        </a:rPr>
                        <a:t>1 999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0F0F0F"/>
                          </a:solidFill>
                          <a:latin typeface="Inter"/>
                        </a:rPr>
                        <a:t>1 699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0F0F0F"/>
                          </a:solidFill>
                          <a:latin typeface="Inter"/>
                        </a:rPr>
                        <a:t>1 599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F0F0F"/>
                          </a:solidFill>
                          <a:latin typeface="Inter"/>
                        </a:rPr>
                        <a:t>Isolert jakke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0F0F0F"/>
                          </a:solidFill>
                          <a:latin typeface="Inter"/>
                        </a:rPr>
                        <a:t>ca. 2 920</a:t>
                      </a:r>
                    </a:p>
                  </a:txBody>
                  <a:tcPr marL="73152" marR="73152" marT="27432" marB="27432" anchor="ctr">
                    <a:solidFill>
                      <a:srgbClr val="FFEBE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0F0F0F"/>
                          </a:solidFill>
                          <a:latin typeface="Inter"/>
                        </a:rPr>
                        <a:t>3 999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0F0F0F"/>
                          </a:solidFill>
                          <a:latin typeface="Inter"/>
                        </a:rPr>
                        <a:t>4 799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0F0F0F"/>
                          </a:solidFill>
                          <a:latin typeface="Inter"/>
                        </a:rPr>
                        <a:t>ca. 3 299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F0F0F"/>
                          </a:solidFill>
                          <a:latin typeface="Inter"/>
                        </a:rPr>
                        <a:t>Merino overdel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0F0F0F"/>
                          </a:solidFill>
                          <a:latin typeface="Inter"/>
                        </a:rPr>
                        <a:t>ca. 1 310</a:t>
                      </a:r>
                    </a:p>
                  </a:txBody>
                  <a:tcPr marL="73152" marR="73152" marT="27432" marB="27432" anchor="ctr">
                    <a:solidFill>
                      <a:srgbClr val="FFEBE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0F0F0F"/>
                          </a:solidFill>
                          <a:latin typeface="Inter"/>
                        </a:rPr>
                        <a:t>ca. 899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0F0F0F"/>
                          </a:solidFill>
                          <a:latin typeface="Inter"/>
                        </a:rPr>
                        <a:t>1 599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0F0F0F"/>
                          </a:solidFill>
                          <a:latin typeface="Inter"/>
                        </a:rPr>
                        <a:t>1 299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F0F0F"/>
                          </a:solidFill>
                          <a:latin typeface="Inter"/>
                        </a:rPr>
                        <a:t>Turbukse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0F0F0F"/>
                          </a:solidFill>
                          <a:latin typeface="Inter"/>
                        </a:rPr>
                        <a:t>ca. 3 220</a:t>
                      </a:r>
                    </a:p>
                  </a:txBody>
                  <a:tcPr marL="73152" marR="73152" marT="27432" marB="27432" anchor="ctr">
                    <a:solidFill>
                      <a:srgbClr val="FFEBE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0F0F0F"/>
                          </a:solidFill>
                          <a:latin typeface="Inter"/>
                        </a:rPr>
                        <a:t>2 499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0F0F0F"/>
                          </a:solidFill>
                          <a:latin typeface="Inter"/>
                        </a:rPr>
                        <a:t>2 199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0F0F0F"/>
                          </a:solidFill>
                          <a:latin typeface="Inter"/>
                        </a:rPr>
                        <a:t>1 999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F0F0F"/>
                          </a:solidFill>
                          <a:latin typeface="Inter"/>
                        </a:rPr>
                        <a:t>Prisindeks, kurv (Bergans = 100)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0F0F0F"/>
                          </a:solidFill>
                          <a:latin typeface="Inter"/>
                        </a:rPr>
                        <a:t>135</a:t>
                      </a:r>
                    </a:p>
                  </a:txBody>
                  <a:tcPr marL="73152" marR="73152" marT="27432" marB="27432" anchor="ctr">
                    <a:solidFill>
                      <a:srgbClr val="FFEBE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0F0F0F"/>
                          </a:solidFill>
                          <a:latin typeface="Inter"/>
                        </a:rPr>
                        <a:t>151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0F0F0F"/>
                          </a:solidFill>
                          <a:latin typeface="Inter"/>
                        </a:rPr>
                        <a:t>163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0F0F0F"/>
                          </a:solidFill>
                          <a:latin typeface="Inter"/>
                        </a:rPr>
                        <a:t>100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458200" y="1783080"/>
            <a:ext cx="3276295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28600" indent="-201168">
              <a:spcAft>
                <a:spcPts val="1400"/>
              </a:spcAft>
              <a:buChar char="•"/>
            </a:pPr>
            <a:r>
              <a:rPr sz="1600" b="0">
                <a:solidFill>
                  <a:srgbClr val="0F0F0F"/>
                </a:solidFill>
                <a:latin typeface="Inter"/>
              </a:rPr>
              <a:t>Houdini er dyrest av de fire på fleece og turbukse.</a:t>
            </a:r>
          </a:p>
          <a:p>
            <a:pPr algn="l" marL="228600" indent="-201168">
              <a:spcAft>
                <a:spcPts val="1400"/>
              </a:spcAft>
              <a:buChar char="•"/>
            </a:pPr>
            <a:r>
              <a:rPr sz="1600" b="0">
                <a:solidFill>
                  <a:srgbClr val="0F0F0F"/>
                </a:solidFill>
                <a:latin typeface="Inter"/>
              </a:rPr>
              <a:t>Norrøna og Arc’teryx løftes av ekspedisjonsjakker til over 9 000 kr. Den kategorien har ikke Houdini.</a:t>
            </a:r>
          </a:p>
          <a:p>
            <a:pPr algn="l" marL="228600" indent="-201168">
              <a:spcAft>
                <a:spcPts val="1400"/>
              </a:spcAft>
              <a:buChar char="•"/>
            </a:pPr>
            <a:r>
              <a:rPr sz="1600" b="0">
                <a:solidFill>
                  <a:srgbClr val="0F0F0F"/>
                </a:solidFill>
                <a:latin typeface="Inter"/>
              </a:rPr>
              <a:t>Houdini selger premium performance med bærekraft og urban bruk som profil.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91072"/>
            <a:ext cx="11277295" cy="4114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A8A86"/>
                </a:solidFill>
                <a:latin typeface="Inter"/>
              </a:rPr>
              <a:t>Ordinære priser, herre, sjekket 19.10.2026 i merkenes norske nettbutikker og hos Fjellsport og Anton Sport. «ca.» = omregnet fra SEK (1 SEK ≈ 1,006 NOK) eller nærmeste tilsvarende produkt (antatt). Prisindeks: egen beregning.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474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A86"/>
                </a:solidFill>
                <a:latin typeface="Inter"/>
              </a:rPr>
              <a:t>OSLO: LÆRDOM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474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8A8A86"/>
                </a:solidFill>
                <a:latin typeface="Inter"/>
              </a:rPr>
              <a:t>Forslag til Houdini Sportswear  ·  Bent Finset / SODAI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12772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F0F0F"/>
                </a:solidFill>
                <a:latin typeface="Inter"/>
              </a:rPr>
              <a:t>Hegdehaugsveien var 70 m² utenfor klyngen. Akersgata 41 gir fem ganger arealet midt i den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91640"/>
            <a:ext cx="5410047" cy="288036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486140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A86"/>
                </a:solidFill>
                <a:latin typeface="Inter"/>
              </a:rPr>
              <a:t>2016/17 TIL 2022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48840"/>
            <a:ext cx="486140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0F0F0F"/>
                </a:solidFill>
                <a:latin typeface="Inter"/>
              </a:rPr>
              <a:t>Houdini Hub, Hegdehaugsveien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97480"/>
            <a:ext cx="4861407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28600" indent="-201168">
              <a:spcAft>
                <a:spcPts val="800"/>
              </a:spcAft>
              <a:buChar char="•"/>
            </a:pPr>
            <a:r>
              <a:rPr sz="1500" b="0">
                <a:solidFill>
                  <a:srgbClr val="0F0F0F"/>
                </a:solidFill>
                <a:latin typeface="Inter"/>
              </a:rPr>
              <a:t>70 m², tegnet av Snøhetta</a:t>
            </a:r>
          </a:p>
          <a:p>
            <a:pPr algn="l" marL="228600" indent="-201168">
              <a:spcAft>
                <a:spcPts val="800"/>
              </a:spcAft>
              <a:buChar char="•"/>
            </a:pPr>
            <a:r>
              <a:rPr sz="1500" b="0">
                <a:solidFill>
                  <a:srgbClr val="0F0F0F"/>
                </a:solidFill>
                <a:latin typeface="Inter"/>
              </a:rPr>
              <a:t>Utenfor klyngen av tekniske outdoormerker</a:t>
            </a:r>
          </a:p>
          <a:p>
            <a:pPr algn="l" marL="228600" indent="-201168">
              <a:spcAft>
                <a:spcPts val="800"/>
              </a:spcAft>
              <a:buChar char="•"/>
            </a:pPr>
            <a:r>
              <a:rPr sz="1500" b="0">
                <a:solidFill>
                  <a:srgbClr val="0F0F0F"/>
                </a:solidFill>
                <a:latin typeface="Inter"/>
              </a:rPr>
              <a:t>Stengt i 2022</a:t>
            </a:r>
          </a:p>
        </p:txBody>
      </p:sp>
      <p:sp>
        <p:nvSpPr>
          <p:cNvPr id="9" name="Rectangle 8"/>
          <p:cNvSpPr/>
          <p:nvPr/>
        </p:nvSpPr>
        <p:spPr>
          <a:xfrm>
            <a:off x="6324447" y="1691640"/>
            <a:ext cx="5410047" cy="2880360"/>
          </a:xfrm>
          <a:prstGeom prst="rect">
            <a:avLst/>
          </a:prstGeom>
          <a:solidFill>
            <a:srgbClr val="FFE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8767" y="1828800"/>
            <a:ext cx="486140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E6F45"/>
                </a:solidFill>
                <a:latin typeface="Inter"/>
              </a:rPr>
              <a:t>FORSLAG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8767" y="2148840"/>
            <a:ext cx="486140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0F0F0F"/>
                </a:solidFill>
                <a:latin typeface="Inter"/>
              </a:rPr>
              <a:t>Houdini Circle Oslo, Akersgata 41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8767" y="2697480"/>
            <a:ext cx="4861407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28600" indent="-201168">
              <a:spcAft>
                <a:spcPts val="800"/>
              </a:spcAft>
              <a:buChar char="•"/>
            </a:pPr>
            <a:r>
              <a:rPr sz="1500" b="0">
                <a:solidFill>
                  <a:srgbClr val="0F0F0F"/>
                </a:solidFill>
                <a:latin typeface="Inter"/>
              </a:rPr>
              <a:t>365 m² på to plan: butikk på gateplan, verksted, utleie og lager i underetasjen</a:t>
            </a:r>
          </a:p>
          <a:p>
            <a:pPr algn="l" marL="228600" indent="-201168">
              <a:spcAft>
                <a:spcPts val="800"/>
              </a:spcAft>
              <a:buChar char="•"/>
            </a:pPr>
            <a:r>
              <a:rPr sz="1500" b="0">
                <a:solidFill>
                  <a:srgbClr val="0F0F0F"/>
                </a:solidFill>
                <a:latin typeface="Inter"/>
              </a:rPr>
              <a:t>Vegg i vegg med Klättermusen, nær Norrøna, to minutter til Arc’teryx</a:t>
            </a:r>
          </a:p>
          <a:p>
            <a:pPr algn="l" marL="228600" indent="-201168">
              <a:spcAft>
                <a:spcPts val="800"/>
              </a:spcAft>
              <a:buChar char="•"/>
            </a:pPr>
            <a:r>
              <a:rPr sz="1500" b="0">
                <a:solidFill>
                  <a:srgbClr val="0F0F0F"/>
                </a:solidFill>
                <a:latin typeface="Inter"/>
              </a:rPr>
              <a:t>Til leie hos Thon Eiendom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754880"/>
            <a:ext cx="1127729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28600" indent="-201168">
              <a:spcAft>
                <a:spcPts val="600"/>
              </a:spcAft>
              <a:buChar char="•"/>
            </a:pPr>
            <a:r>
              <a:rPr sz="1500" b="0">
                <a:solidFill>
                  <a:srgbClr val="0F0F0F"/>
                </a:solidFill>
                <a:latin typeface="Inter"/>
              </a:rPr>
              <a:t>Houdini Norway AS omsatte for 9,6 MNOK i 2025 gjennom forhandlere og nett, uten egen butikk i Norge.</a:t>
            </a:r>
          </a:p>
          <a:p>
            <a:pPr algn="l" marL="228600" indent="-201168">
              <a:spcAft>
                <a:spcPts val="600"/>
              </a:spcAft>
              <a:buChar char="•"/>
            </a:pPr>
            <a:r>
              <a:rPr sz="1500" b="0">
                <a:solidFill>
                  <a:srgbClr val="0F0F0F"/>
                </a:solidFill>
                <a:latin typeface="Inter"/>
              </a:rPr>
              <a:t>Houdini Circle åpnet i Stockholm i 2023 som test, med mulighet for flere markeder. Oslo kan bli det neste.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291072"/>
            <a:ext cx="11277295" cy="4114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A8A86"/>
                </a:solidFill>
                <a:latin typeface="Inter"/>
              </a:rPr>
              <a:t>Kilder: Houdini journal og e-architect (Oslo-butikken, 70 m²). Stengt 2022: Google, antatt. Proff (Houdini Sportswear Norway AS, 2025). houdinisportswear.com (Houdini Circle, 28.09.2023). FINN 418714773 (Akersgata 41, oppdatert 02.03.2026).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474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A86"/>
                </a:solidFill>
                <a:latin typeface="Inter"/>
              </a:rPr>
              <a:t>OSLO: KONKURRENTER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474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8A8A86"/>
                </a:solidFill>
                <a:latin typeface="Inter"/>
              </a:rPr>
              <a:t>Forslag til Houdini Sportswear  ·  Bent Finset / SODAI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12772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F0F0F"/>
                </a:solidFill>
                <a:latin typeface="Inter"/>
              </a:rPr>
              <a:t>De nærmeste konkurrentene ligger innen to minutters gange fra hverandre ved Egertorget</a:t>
            </a:r>
          </a:p>
        </p:txBody>
      </p:sp>
      <p:pic>
        <p:nvPicPr>
          <p:cNvPr id="5" name="Picture 4" descr="oslo_map_fin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5516403" cy="452628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6339363" y="1737360"/>
            <a:ext cx="310896" cy="310896"/>
          </a:xfrm>
          <a:prstGeom prst="ellipse">
            <a:avLst/>
          </a:prstGeom>
          <a:solidFill>
            <a:srgbClr val="2D2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8275" y="1700784"/>
            <a:ext cx="49562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0F0F0F"/>
                </a:solidFill>
                <a:latin typeface="Inter"/>
              </a:rPr>
              <a:t>Arc’teryx, Karl Johans gate 21. 361 m², juni 2026</a:t>
            </a:r>
          </a:p>
        </p:txBody>
      </p:sp>
      <p:sp>
        <p:nvSpPr>
          <p:cNvPr id="8" name="Oval 7"/>
          <p:cNvSpPr/>
          <p:nvPr/>
        </p:nvSpPr>
        <p:spPr>
          <a:xfrm>
            <a:off x="6339363" y="2167128"/>
            <a:ext cx="310896" cy="310896"/>
          </a:xfrm>
          <a:prstGeom prst="ellipse">
            <a:avLst/>
          </a:prstGeom>
          <a:solidFill>
            <a:srgbClr val="2D2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78275" y="2130552"/>
            <a:ext cx="49562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0F0F0F"/>
                </a:solidFill>
                <a:latin typeface="Inter"/>
              </a:rPr>
              <a:t>Fjällräven, Karl Johans gate 19. 310 m²</a:t>
            </a:r>
          </a:p>
        </p:txBody>
      </p:sp>
      <p:sp>
        <p:nvSpPr>
          <p:cNvPr id="10" name="Oval 9"/>
          <p:cNvSpPr/>
          <p:nvPr/>
        </p:nvSpPr>
        <p:spPr>
          <a:xfrm>
            <a:off x="6339363" y="2596896"/>
            <a:ext cx="310896" cy="310896"/>
          </a:xfrm>
          <a:prstGeom prst="ellipse">
            <a:avLst/>
          </a:prstGeom>
          <a:solidFill>
            <a:srgbClr val="2D2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78275" y="2560320"/>
            <a:ext cx="49562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0F0F0F"/>
                </a:solidFill>
                <a:latin typeface="Inter"/>
              </a:rPr>
              <a:t>Peak Performance, Karl Johans gate 18</a:t>
            </a:r>
          </a:p>
        </p:txBody>
      </p:sp>
      <p:sp>
        <p:nvSpPr>
          <p:cNvPr id="12" name="Oval 11"/>
          <p:cNvSpPr/>
          <p:nvPr/>
        </p:nvSpPr>
        <p:spPr>
          <a:xfrm>
            <a:off x="6339363" y="3026664"/>
            <a:ext cx="310896" cy="310896"/>
          </a:xfrm>
          <a:prstGeom prst="ellipse">
            <a:avLst/>
          </a:prstGeom>
          <a:solidFill>
            <a:srgbClr val="2D2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78275" y="2990088"/>
            <a:ext cx="49562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0F0F0F"/>
                </a:solidFill>
                <a:latin typeface="Inter"/>
              </a:rPr>
              <a:t>Norrøna, Akersgata 30. Flaggskip</a:t>
            </a:r>
          </a:p>
        </p:txBody>
      </p:sp>
      <p:sp>
        <p:nvSpPr>
          <p:cNvPr id="14" name="Oval 13"/>
          <p:cNvSpPr/>
          <p:nvPr/>
        </p:nvSpPr>
        <p:spPr>
          <a:xfrm>
            <a:off x="6339363" y="3456432"/>
            <a:ext cx="310896" cy="310896"/>
          </a:xfrm>
          <a:prstGeom prst="ellipse">
            <a:avLst/>
          </a:prstGeom>
          <a:solidFill>
            <a:srgbClr val="2D2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78275" y="3419856"/>
            <a:ext cx="49562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0F0F0F"/>
                </a:solidFill>
                <a:latin typeface="Inter"/>
              </a:rPr>
              <a:t>Klättermusen, Akersgata 43. 282 m², 2025</a:t>
            </a:r>
          </a:p>
        </p:txBody>
      </p:sp>
      <p:sp>
        <p:nvSpPr>
          <p:cNvPr id="16" name="Oval 15"/>
          <p:cNvSpPr/>
          <p:nvPr/>
        </p:nvSpPr>
        <p:spPr>
          <a:xfrm>
            <a:off x="6339363" y="3886200"/>
            <a:ext cx="310896" cy="310896"/>
          </a:xfrm>
          <a:prstGeom prst="ellipse">
            <a:avLst/>
          </a:prstGeom>
          <a:solidFill>
            <a:srgbClr val="FE6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78275" y="3849624"/>
            <a:ext cx="49562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0F0F0F"/>
                </a:solidFill>
                <a:latin typeface="Inter"/>
              </a:rPr>
              <a:t>Houdini, alternativ A: Karl Johan</a:t>
            </a:r>
          </a:p>
        </p:txBody>
      </p:sp>
      <p:sp>
        <p:nvSpPr>
          <p:cNvPr id="18" name="Oval 17"/>
          <p:cNvSpPr/>
          <p:nvPr/>
        </p:nvSpPr>
        <p:spPr>
          <a:xfrm>
            <a:off x="6339363" y="4315968"/>
            <a:ext cx="310896" cy="310896"/>
          </a:xfrm>
          <a:prstGeom prst="ellipse">
            <a:avLst/>
          </a:prstGeom>
          <a:solidFill>
            <a:srgbClr val="FE6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78275" y="4279392"/>
            <a:ext cx="49562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0F0F0F"/>
                </a:solidFill>
                <a:latin typeface="Inter"/>
              </a:rPr>
              <a:t>Houdini, alternativ B: Akersgata 41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39363" y="4800600"/>
            <a:ext cx="539513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0F0F0F"/>
                </a:solidFill>
                <a:latin typeface="Inter"/>
              </a:rPr>
              <a:t>Karl Johan: ca. 4 500 forbipasserende i timen på hverdager og 8 000 på lørdager (antatt, utleiers tall).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0F0F0F"/>
                </a:solidFill>
                <a:latin typeface="Inter"/>
              </a:rPr>
              <a:t>Oslo hadde 6,93 mill. gjestedøgn i 2025, rekord for tredje år på rad.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291072"/>
            <a:ext cx="11277295" cy="4114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A8A86"/>
                </a:solidFill>
                <a:latin typeface="Inter"/>
              </a:rPr>
              <a:t>Plassering på kvartalsnivå. Kilder: Thon Eiendom (udatert), VisitOslo driftsåret 2025, FashionUnited 23.06.2026 (Arc’teryx), Fjällräven, Klättermusen, FINN 418714773. Kart: © OpenStreetMap-bidragsytere.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474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A86"/>
                </a:solidFill>
                <a:latin typeface="Inter"/>
              </a:rPr>
              <a:t>OSLO: KONKURRENTER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474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8A8A86"/>
                </a:solidFill>
                <a:latin typeface="Inter"/>
              </a:rPr>
              <a:t>Forslag til Houdini Sportswear  ·  Bent Finset / SODAI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12772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F0F0F"/>
                </a:solidFill>
                <a:latin typeface="Inter"/>
              </a:rPr>
              <a:t>Konkurrentene satser på fagfolk og reparasjon i butikken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645920"/>
          <a:ext cx="11277295" cy="285292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45920"/>
                <a:gridCol w="2377440"/>
                <a:gridCol w="4023360"/>
                <a:gridCol w="3230575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F0F0F"/>
                          </a:solidFill>
                          <a:latin typeface="Inter"/>
                        </a:rPr>
                        <a:t>Merke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1C1F1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F0F0F"/>
                          </a:solidFill>
                          <a:latin typeface="Inter"/>
                        </a:rPr>
                        <a:t>Segment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1C1F1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F0F0F"/>
                          </a:solidFill>
                          <a:latin typeface="Inter"/>
                        </a:rPr>
                        <a:t>Norsk selskap, driftsinntekter 2025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1C1F1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F0F0F"/>
                          </a:solidFill>
                          <a:latin typeface="Inter"/>
                        </a:rPr>
                        <a:t>Butikk i Oslo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1C1F1D"/>
                      </a:solidFill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F0F0F"/>
                          </a:solidFill>
                          <a:latin typeface="Inter"/>
                        </a:rPr>
                        <a:t>Arc’teryx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F0F0F"/>
                          </a:solidFill>
                          <a:latin typeface="Inter"/>
                        </a:rPr>
                        <a:t>Teknisk alpint premium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F0F0F"/>
                          </a:solidFill>
                          <a:latin typeface="Inter"/>
                        </a:rPr>
                        <a:t>Amer Sports Norge AS: 444 MNOK (flere merker)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F0F0F"/>
                          </a:solidFill>
                          <a:latin typeface="Inter"/>
                        </a:rPr>
                        <a:t>Karl Johans gate 21, med reparasjon og vask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F0F0F"/>
                          </a:solidFill>
                          <a:latin typeface="Inter"/>
                        </a:rPr>
                        <a:t>Norrøna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F0F0F"/>
                          </a:solidFill>
                          <a:latin typeface="Inter"/>
                        </a:rPr>
                        <a:t>Teknisk alpint premium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F0F0F"/>
                          </a:solidFill>
                          <a:latin typeface="Inter"/>
                        </a:rPr>
                        <a:t>Norrøna Sport AS: ca. 805 MNOK. Butikkene: 284 MNOK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F0F0F"/>
                          </a:solidFill>
                          <a:latin typeface="Inter"/>
                        </a:rPr>
                        <a:t>Akersgata 30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F0F0F"/>
                          </a:solidFill>
                          <a:latin typeface="Inter"/>
                        </a:rPr>
                        <a:t>Fjällräven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F0F0F"/>
                          </a:solidFill>
                          <a:latin typeface="Inter"/>
                        </a:rPr>
                        <a:t>Skandinavisk premium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F0F0F"/>
                          </a:solidFill>
                          <a:latin typeface="Inter"/>
                        </a:rPr>
                        <a:t>Fenix Outdoor Norge AS: 131 MNOK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F0F0F"/>
                          </a:solidFill>
                          <a:latin typeface="Inter"/>
                        </a:rPr>
                        <a:t>Karl Johans gate 19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F0F0F"/>
                          </a:solidFill>
                          <a:latin typeface="Inter"/>
                        </a:rPr>
                        <a:t>Klättermusen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F0F0F"/>
                          </a:solidFill>
                          <a:latin typeface="Inter"/>
                        </a:rPr>
                        <a:t>Skandinavisk bærekraft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F0F0F"/>
                          </a:solidFill>
                          <a:latin typeface="Inter"/>
                        </a:rPr>
                        <a:t>Klättermusen Norge AS: 15 MNOK, underskudd 7 MNOK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F0F0F"/>
                          </a:solidFill>
                          <a:latin typeface="Inter"/>
                        </a:rPr>
                        <a:t>Akersgata 43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F0F0F"/>
                          </a:solidFill>
                          <a:latin typeface="Inter"/>
                        </a:rPr>
                        <a:t>Bergans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F0F0F"/>
                          </a:solidFill>
                          <a:latin typeface="Inter"/>
                        </a:rPr>
                        <a:t>Bredt friluftsmerke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F0F0F"/>
                          </a:solidFill>
                          <a:latin typeface="Inter"/>
                        </a:rPr>
                        <a:t>Bergans Fritid AS: 373 MNOK, underskudd 69 MNOK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F0F0F"/>
                          </a:solidFill>
                          <a:latin typeface="Inter"/>
                        </a:rPr>
                        <a:t>Ved Rådhuset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4709160"/>
            <a:ext cx="11277295" cy="9144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773168"/>
            <a:ext cx="1091153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F0F0F"/>
                </a:solidFill>
                <a:latin typeface="Inter"/>
              </a:rPr>
              <a:t>Fagfolk selger. </a:t>
            </a:r>
            <a:r>
              <a:rPr sz="1400" b="0">
                <a:solidFill>
                  <a:srgbClr val="0F0F0F"/>
                </a:solidFill>
                <a:latin typeface="Inter"/>
              </a:rPr>
              <a:t>Arc’teryx kaller de ansatte «Product Guides» og ber om lidenskap for friluft. Vi har nettverk til å rekruttere erfarne fagfolk fra sportsbransjen, blant annet fra Bull Ski &amp; Kajakk.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291072"/>
            <a:ext cx="11277295" cy="4114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A8A86"/>
                </a:solidFill>
                <a:latin typeface="Inter"/>
              </a:rPr>
              <a:t>Driftsinntekter for norsk selskap, ikke per butikk. Kilde: Proff og Brønnøysundregistrene via søk 24.10.2026 (antatt, ikke kontrollert mot originalregnskap). Arc’teryx: FashionUnited 23.06.2026, stillingsannonser på jobs.lever.co.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474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A86"/>
                </a:solidFill>
                <a:latin typeface="Inter"/>
              </a:rPr>
              <a:t>OSLO: BELIGGENHET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474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8A8A86"/>
                </a:solidFill>
                <a:latin typeface="Inter"/>
              </a:rPr>
              <a:t>Forslag til Houdini Sportswear  ·  Bent Finset / SODAI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12772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F0F0F"/>
                </a:solidFill>
                <a:latin typeface="Inter"/>
              </a:rPr>
              <a:t>Akersgata 41 er til leie og ligger i samme klynge som Karl Johan</a:t>
            </a:r>
          </a:p>
        </p:txBody>
      </p:sp>
      <p:pic>
        <p:nvPicPr>
          <p:cNvPr id="5" name="Picture 4" descr="kj_b_c16x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4876800" cy="27432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594360" y="1737360"/>
            <a:ext cx="384048" cy="384048"/>
          </a:xfrm>
          <a:prstGeom prst="ellipse">
            <a:avLst/>
          </a:prstGeom>
          <a:solidFill>
            <a:srgbClr val="FE6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Inter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434840"/>
            <a:ext cx="54786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F0F0F"/>
                </a:solidFill>
                <a:latin typeface="Inter"/>
              </a:rPr>
              <a:t>Karl Johan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73168"/>
            <a:ext cx="5478627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0F0F0F"/>
                </a:solidFill>
                <a:latin typeface="Inter"/>
              </a:rPr>
              <a:t>Flest forbipasserende. Fant ingen ledige butikklokaler på gateplan i 2026. Nullpunkt ca. 16 MNOK i netto salg (200 m², 27 000 kr/m²).</a:t>
            </a:r>
          </a:p>
        </p:txBody>
      </p:sp>
      <p:pic>
        <p:nvPicPr>
          <p:cNvPr id="9" name="Picture 8" descr="ak_b_c16x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5867" y="1600200"/>
            <a:ext cx="4876800" cy="2743200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393027" y="1737360"/>
            <a:ext cx="384048" cy="384048"/>
          </a:xfrm>
          <a:prstGeom prst="ellipse">
            <a:avLst/>
          </a:prstGeom>
          <a:solidFill>
            <a:srgbClr val="FE6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Inter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55867" y="4434840"/>
            <a:ext cx="54786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F0F0F"/>
                </a:solidFill>
                <a:latin typeface="Inter"/>
              </a:rPr>
              <a:t>Akersgata 41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55867" y="4773168"/>
            <a:ext cx="5478627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0F0F0F"/>
                </a:solidFill>
                <a:latin typeface="Inter"/>
              </a:rPr>
              <a:t>365 m²: butikk på gateplan, verksted, utleie og lager i underetasjen. Nullpunkt ca. 11 MNOK i netto salg (antatt husleie).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705856"/>
            <a:ext cx="11277295" cy="502920"/>
          </a:xfrm>
          <a:prstGeom prst="rect">
            <a:avLst/>
          </a:prstGeom>
          <a:solidFill>
            <a:srgbClr val="0F0F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705856"/>
            <a:ext cx="10911535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E6F45"/>
                </a:solidFill>
                <a:latin typeface="Inter"/>
              </a:rPr>
              <a:t>Anbefaling: Akersgata 41. </a:t>
            </a:r>
            <a:r>
              <a:rPr sz="1300" b="0">
                <a:solidFill>
                  <a:srgbClr val="FFFFFF"/>
                </a:solidFill>
                <a:latin typeface="Inter"/>
              </a:rPr>
              <a:t>Samme naboer, plass til Circle-konseptet og lavere nullpunkt. Husleien avklares med Thon.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291072"/>
            <a:ext cx="11277295" cy="4114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A8A86"/>
                </a:solidFill>
                <a:latin typeface="Inter"/>
              </a:rPr>
              <a:t>Illustrasjoner av konsept, ikke tegnet etter byggene. Houdini-navnet er lagt inn av oss. Nullpunkt: KJ 200 m² × 27 000 kr; Akersgata 164 m² × 12 000 kr + 201 m² × 4 000 kr (antatt); 65 % bruttomargin, 5 årsverk à 0,75 MNOK, 8 % andre kostnader. Kilder: FINN 418714773, Colliers 2021.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474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A86"/>
                </a:solidFill>
                <a:latin typeface="Inter"/>
              </a:rPr>
              <a:t>OSLO: KONSEPT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474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8A8A86"/>
                </a:solidFill>
                <a:latin typeface="Inter"/>
              </a:rPr>
              <a:t>Forslag til Houdini Sportswear  ·  Bent Finset / SODAI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12772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F0F0F"/>
                </a:solidFill>
                <a:latin typeface="Inter"/>
              </a:rPr>
              <a:t>Et Houdini Circle i Oslo: butikk, reparasjon og utleie i samme rom</a:t>
            </a:r>
          </a:p>
        </p:txBody>
      </p:sp>
      <p:pic>
        <p:nvPicPr>
          <p:cNvPr id="5" name="Picture 4" descr="interior_b_c16x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7406640" cy="416623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0" y="1691640"/>
            <a:ext cx="3504895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28600" indent="-201168">
              <a:spcAft>
                <a:spcPts val="1600"/>
              </a:spcAft>
              <a:buChar char="•"/>
            </a:pPr>
            <a:r>
              <a:rPr sz="1600" b="0">
                <a:solidFill>
                  <a:srgbClr val="0F0F0F"/>
                </a:solidFill>
                <a:latin typeface="Inter"/>
              </a:rPr>
              <a:t>Houdini Circle i Stockholm samler kjøp, leie, reparasjon og brukt. Konseptet ble åpnet som test i 2023.</a:t>
            </a:r>
          </a:p>
          <a:p>
            <a:pPr algn="l" marL="228600" indent="-201168">
              <a:spcAft>
                <a:spcPts val="1600"/>
              </a:spcAft>
              <a:buChar char="•"/>
            </a:pPr>
            <a:r>
              <a:rPr sz="1600" b="0">
                <a:solidFill>
                  <a:srgbClr val="0F0F0F"/>
                </a:solidFill>
                <a:latin typeface="Inter"/>
              </a:rPr>
              <a:t>Arc’teryx åpnet reparasjon og vask i Karl Johans gate 21 i juni 2026. Houdini må svare med noe tydeligere.</a:t>
            </a:r>
          </a:p>
          <a:p>
            <a:pPr algn="l" marL="228600" indent="-201168">
              <a:spcAft>
                <a:spcPts val="1600"/>
              </a:spcAft>
              <a:buChar char="•"/>
            </a:pPr>
            <a:r>
              <a:rPr sz="1600" b="0">
                <a:solidFill>
                  <a:srgbClr val="0F0F0F"/>
                </a:solidFill>
                <a:latin typeface="Inter"/>
              </a:rPr>
              <a:t>Underetasjen i Akersgata 41 gir plass til verksted og utleielager.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91072"/>
            <a:ext cx="11277295" cy="4114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A8A86"/>
                </a:solidFill>
                <a:latin typeface="Inter"/>
              </a:rPr>
              <a:t>Illustrasjon av konsept. Kilder: houdinisportswear.com og Suston Magazine 02.10.2023 (Houdini Circle), FashionUnited 23.06.2026 (Arc’teryx ReBIRD).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474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A86"/>
                </a:solidFill>
                <a:latin typeface="Inter"/>
              </a:rPr>
              <a:t>TROMSØ: MARKED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474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8A8A86"/>
                </a:solidFill>
                <a:latin typeface="Inter"/>
              </a:rPr>
              <a:t>Forslag til Houdini Sportswear  ·  Bent Finset / SODAI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12772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F0F0F"/>
                </a:solidFill>
                <a:latin typeface="Inter"/>
              </a:rPr>
              <a:t>Norrøna og Bergans har egne butikker i Tromsø. Vi fant ingen som fører Houdini i Nord-Norge</a:t>
            </a:r>
          </a:p>
        </p:txBody>
      </p:sp>
      <p:pic>
        <p:nvPicPr>
          <p:cNvPr id="5" name="Picture 4" descr="tromso_map_fin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4410221" cy="4526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233181" y="1645920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E6F45"/>
                </a:solidFill>
                <a:latin typeface="Inter"/>
              </a:rPr>
              <a:t>1,31 mill.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33181" y="2194560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A8A86"/>
                </a:solidFill>
                <a:latin typeface="Inter"/>
              </a:rPr>
              <a:t>gjestedøgn i 2025, +10,3 %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0621" y="1645920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E6F45"/>
                </a:solidFill>
                <a:latin typeface="Inter"/>
              </a:rPr>
              <a:t>59 %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10621" y="2194560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A8A86"/>
                </a:solidFill>
                <a:latin typeface="Inter"/>
              </a:rPr>
              <a:t>utenlandske, +20,7 %</a:t>
            </a:r>
          </a:p>
        </p:txBody>
      </p:sp>
      <p:sp>
        <p:nvSpPr>
          <p:cNvPr id="10" name="Oval 9"/>
          <p:cNvSpPr/>
          <p:nvPr/>
        </p:nvSpPr>
        <p:spPr>
          <a:xfrm>
            <a:off x="5233181" y="2788920"/>
            <a:ext cx="310896" cy="310896"/>
          </a:xfrm>
          <a:prstGeom prst="ellipse">
            <a:avLst/>
          </a:prstGeom>
          <a:solidFill>
            <a:srgbClr val="FE6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72093" y="2752344"/>
            <a:ext cx="606240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0F0F0F"/>
                </a:solidFill>
                <a:latin typeface="Inter"/>
              </a:rPr>
              <a:t>Mack Kvartalet, Storgata 5. Houdini, forslag</a:t>
            </a:r>
          </a:p>
        </p:txBody>
      </p:sp>
      <p:sp>
        <p:nvSpPr>
          <p:cNvPr id="12" name="Oval 11"/>
          <p:cNvSpPr/>
          <p:nvPr/>
        </p:nvSpPr>
        <p:spPr>
          <a:xfrm>
            <a:off x="5233181" y="3172968"/>
            <a:ext cx="310896" cy="310896"/>
          </a:xfrm>
          <a:prstGeom prst="ellipse">
            <a:avLst/>
          </a:prstGeom>
          <a:solidFill>
            <a:srgbClr val="2D2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72093" y="3136392"/>
            <a:ext cx="606240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0F0F0F"/>
                </a:solidFill>
                <a:latin typeface="Inter"/>
              </a:rPr>
              <a:t>Norrøna, Alti Nerstranda. Egen butikkdrift</a:t>
            </a:r>
          </a:p>
        </p:txBody>
      </p:sp>
      <p:sp>
        <p:nvSpPr>
          <p:cNvPr id="14" name="Oval 13"/>
          <p:cNvSpPr/>
          <p:nvPr/>
        </p:nvSpPr>
        <p:spPr>
          <a:xfrm>
            <a:off x="5233181" y="3557016"/>
            <a:ext cx="310896" cy="310896"/>
          </a:xfrm>
          <a:prstGeom prst="ellipse">
            <a:avLst/>
          </a:prstGeom>
          <a:solidFill>
            <a:srgbClr val="2D2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72093" y="3520440"/>
            <a:ext cx="606240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0F0F0F"/>
                </a:solidFill>
                <a:latin typeface="Inter"/>
              </a:rPr>
              <a:t>Bergans, Prostneset havneterminal</a:t>
            </a:r>
          </a:p>
        </p:txBody>
      </p:sp>
      <p:sp>
        <p:nvSpPr>
          <p:cNvPr id="16" name="Oval 15"/>
          <p:cNvSpPr/>
          <p:nvPr/>
        </p:nvSpPr>
        <p:spPr>
          <a:xfrm>
            <a:off x="5233181" y="3941064"/>
            <a:ext cx="310896" cy="310896"/>
          </a:xfrm>
          <a:prstGeom prst="ellipse">
            <a:avLst/>
          </a:prstGeom>
          <a:solidFill>
            <a:srgbClr val="2D2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72093" y="3904488"/>
            <a:ext cx="606240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0F0F0F"/>
                </a:solidFill>
                <a:latin typeface="Inter"/>
              </a:rPr>
              <a:t>Naturkompaniet, Storgata 52. Fenix Outdoor</a:t>
            </a:r>
          </a:p>
        </p:txBody>
      </p:sp>
      <p:sp>
        <p:nvSpPr>
          <p:cNvPr id="18" name="Oval 17"/>
          <p:cNvSpPr/>
          <p:nvPr/>
        </p:nvSpPr>
        <p:spPr>
          <a:xfrm>
            <a:off x="5233181" y="4325112"/>
            <a:ext cx="310896" cy="310896"/>
          </a:xfrm>
          <a:prstGeom prst="ellipse">
            <a:avLst/>
          </a:prstGeom>
          <a:solidFill>
            <a:srgbClr val="2D2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72093" y="4288536"/>
            <a:ext cx="606240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0F0F0F"/>
                </a:solidFill>
                <a:latin typeface="Inter"/>
              </a:rPr>
              <a:t>Nansen Outdoor, Storgata 61. Helly Hansen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33181" y="4800600"/>
            <a:ext cx="650131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0F0F0F"/>
                </a:solidFill>
                <a:latin typeface="Inter"/>
              </a:rPr>
              <a:t>Utenfor kartet: Tromsø Ski &amp; Sykkel 48 MNOK, Pyramiden Sport 42 MNOK og Sport 1 Jekta 38 MNOK (2025). De fører blant annet Arc’teryx og Norrøna.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0F0F0F"/>
                </a:solidFill>
                <a:latin typeface="Inter"/>
              </a:rPr>
              <a:t>Oransje strek: kaiene mellom Mack og Strandtorget, eid av Tromsø Havn.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291072"/>
            <a:ext cx="11277295" cy="4114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A8A86"/>
                </a:solidFill>
                <a:latin typeface="Inter"/>
              </a:rPr>
              <a:t>Plassering ca. Kilder: Visit Tromsø 2025 (Airbnb ikke med), Proff via søk 24.10.2026, Alti Nerstranda, Bergans, OI Compass 2023, Visit Norway, Tromsø Havn. Kart: © OpenStreetMap-bidragsytere.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474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A86"/>
                </a:solidFill>
                <a:latin typeface="Inter"/>
              </a:rPr>
              <a:t>TROMSØ: MACK KVARTALET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474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8A8A86"/>
                </a:solidFill>
                <a:latin typeface="Inter"/>
              </a:rPr>
              <a:t>Forslag til Houdini Sportswear  ·  Bent Finset / SODAI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12772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F0F0F"/>
                </a:solidFill>
                <a:latin typeface="Inter"/>
              </a:rPr>
              <a:t>Houdini i markedsgata, under samme tak som Nord-Norges største hotell</a:t>
            </a:r>
          </a:p>
        </p:txBody>
      </p:sp>
      <p:pic>
        <p:nvPicPr>
          <p:cNvPr id="5" name="Picture 4" descr="mack_markedsgate_houdin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7589520" cy="426910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412480" y="1645920"/>
            <a:ext cx="33220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FE6F45"/>
                </a:solidFill>
                <a:latin typeface="Inter"/>
              </a:rPr>
              <a:t>351 rom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2075688"/>
            <a:ext cx="33220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A8A86"/>
                </a:solidFill>
                <a:latin typeface="Inter"/>
              </a:rPr>
              <a:t>Citybox, største hotell i Nord-Norge etter antall rom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2670048"/>
            <a:ext cx="33220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0F0F0F"/>
                </a:solidFill>
                <a:latin typeface="Inter"/>
              </a:rPr>
              <a:t>ca. 150 000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3099816"/>
            <a:ext cx="33220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A8A86"/>
                </a:solidFill>
                <a:latin typeface="Inter"/>
              </a:rPr>
              <a:t>gjestedøgn i året i hotellet (anslag)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3694176"/>
            <a:ext cx="33220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0F0F0F"/>
                </a:solidFill>
                <a:latin typeface="Inter"/>
              </a:rPr>
              <a:t>ca. 5 300 m²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4123944"/>
            <a:ext cx="33220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A8A86"/>
                </a:solidFill>
                <a:latin typeface="Inter"/>
              </a:rPr>
              <a:t>handel og servering under tak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4718304"/>
            <a:ext cx="33220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0F0F0F"/>
                </a:solidFill>
                <a:latin typeface="Inter"/>
              </a:rPr>
              <a:t>Sommer 2027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5148072"/>
            <a:ext cx="33220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A8A86"/>
                </a:solidFill>
                <a:latin typeface="Inter"/>
              </a:rPr>
              <a:t>planlagt åpning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291072"/>
            <a:ext cx="11277295" cy="4114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A8A86"/>
                </a:solidFill>
                <a:latin typeface="Inter"/>
              </a:rPr>
              <a:t>Stillbilde fra film: Eiendomsspar / Mack Kvartalet. Houdini-skiltet er lagt inn av oss som forslag. Anslag: 75 % belegg, 1,6 gjester per rom. 5 300 m² = 8 000 m² minus ca. 2 700 m² kontor. Kilder: eiendomsspar.no, cityboxhotels.com (2026).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474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A86"/>
                </a:solidFill>
                <a:latin typeface="Inter"/>
              </a:rPr>
              <a:t>TROMSØ: MACK KVARTALET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474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8A8A86"/>
                </a:solidFill>
                <a:latin typeface="Inter"/>
              </a:rPr>
              <a:t>Forslag til Houdini Sportswear  ·  Bent Finset / SODAI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12772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F0F0F"/>
                </a:solidFill>
                <a:latin typeface="Inter"/>
              </a:rPr>
              <a:t>Lokale 1.01 A har inngang både fra gaten og fra markedsgata</a:t>
            </a:r>
          </a:p>
        </p:txBody>
      </p:sp>
      <p:pic>
        <p:nvPicPr>
          <p:cNvPr id="5" name="Picture 4" descr="plan_houdin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7822319" cy="3657600"/>
          </a:xfrm>
          <a:prstGeom prst="rect">
            <a:avLst/>
          </a:prstGeom>
        </p:spPr>
      </p:pic>
      <p:pic>
        <p:nvPicPr>
          <p:cNvPr id="6" name="Picture 5" descr="v-00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3839" y="1600200"/>
            <a:ext cx="3180656" cy="178911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53839" y="3462471"/>
            <a:ext cx="318065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A8A86"/>
                </a:solidFill>
                <a:latin typeface="Inter"/>
              </a:rPr>
              <a:t>Citybox-hotellet og Mack Kvartalet ved sjøen, med Ishavskatedralen i bakgrunnen.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39496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0F0F0F"/>
                </a:solidFill>
                <a:latin typeface="Inter"/>
              </a:rPr>
              <a:t>Nybygget overleveres sommeren 2027, så innredningen kan tegnes inn før overtakelse, uten riving. Tromsø Havn planlegger kaipromenade og flytebrygger foran kvartalet (planinitiativ, ikke vedtatt).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291072"/>
            <a:ext cx="11277295" cy="4114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A8A86"/>
                </a:solidFill>
                <a:latin typeface="Inter"/>
              </a:rPr>
              <a:t>Plantegning og stillbilde fra film: Eiendomsspar / Mack Kvartalet. Houdini er tegnet inn av oss som forslag. Areal, vilkår og tilgjengelighet er ikke avklart med Eiendomsspar. Kilde kai: tromso.havn.no.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474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A86"/>
                </a:solidFill>
                <a:latin typeface="Inter"/>
              </a:rPr>
              <a:t>TROMSØ: TRINNVIS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474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8A8A86"/>
                </a:solidFill>
                <a:latin typeface="Inter"/>
              </a:rPr>
              <a:t>Forslag til Houdini Sportswear  ·  Bent Finset / SODAI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12772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F0F0F"/>
                </a:solidFill>
                <a:latin typeface="Inter"/>
              </a:rPr>
              <a:t>Tromsø starter som vinterutleie og blir fast butikk når tallene viser det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541004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E6F45"/>
                </a:solidFill>
                <a:latin typeface="Inter"/>
              </a:rPr>
              <a:t>TRINN 1: VINTERSESONG, FEM MÅNEDER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11680"/>
            <a:ext cx="54100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0F0F0F"/>
                </a:solidFill>
                <a:latin typeface="Inter"/>
              </a:rPr>
              <a:t>Pop-up med salg og utleie i Storgata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2606040"/>
          <a:ext cx="5410047" cy="12344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103120"/>
                <a:gridCol w="1102309"/>
                <a:gridCol w="1102309"/>
                <a:gridCol w="1102309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F0F0F"/>
                          </a:solidFill>
                          <a:latin typeface="Inter"/>
                        </a:rPr>
                        <a:t>MNOK, netto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1C1F1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0F0F0F"/>
                          </a:solidFill>
                          <a:latin typeface="Inter"/>
                        </a:rPr>
                        <a:t>Nedside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1C1F1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0F0F0F"/>
                          </a:solidFill>
                          <a:latin typeface="Inter"/>
                        </a:rPr>
                        <a:t>Basis</a:t>
                      </a:r>
                    </a:p>
                  </a:txBody>
                  <a:tcPr marL="73152" marR="73152" marT="27432" marB="27432" anchor="ctr">
                    <a:solidFill>
                      <a:srgbClr val="FFEBE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1C1F1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0F0F0F"/>
                          </a:solidFill>
                          <a:latin typeface="Inter"/>
                        </a:rPr>
                        <a:t>Oppside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1C1F1D"/>
                      </a:solidFill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F0F0F"/>
                          </a:solidFill>
                          <a:latin typeface="Inter"/>
                        </a:rPr>
                        <a:t>Netto salg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0F0F0F"/>
                          </a:solidFill>
                          <a:latin typeface="Inter"/>
                        </a:rPr>
                        <a:t>1,2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0F0F0F"/>
                          </a:solidFill>
                          <a:latin typeface="Inter"/>
                        </a:rPr>
                        <a:t>2,0</a:t>
                      </a:r>
                    </a:p>
                  </a:txBody>
                  <a:tcPr marL="73152" marR="73152" marT="27432" marB="27432" anchor="ctr">
                    <a:solidFill>
                      <a:srgbClr val="FFEBE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0F0F0F"/>
                          </a:solidFill>
                          <a:latin typeface="Inter"/>
                        </a:rPr>
                        <a:t>3,0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F0F0F"/>
                          </a:solidFill>
                          <a:latin typeface="Inter"/>
                        </a:rPr>
                        <a:t>Resultat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0F0F0F"/>
                          </a:solidFill>
                          <a:latin typeface="Inter"/>
                        </a:rPr>
                        <a:t>-0,4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0F0F0F"/>
                          </a:solidFill>
                          <a:latin typeface="Inter"/>
                        </a:rPr>
                        <a:t>+0,1</a:t>
                      </a:r>
                    </a:p>
                  </a:txBody>
                  <a:tcPr marL="73152" marR="73152" marT="27432" marB="27432" anchor="ctr">
                    <a:solidFill>
                      <a:srgbClr val="FFEBE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0F0F0F"/>
                          </a:solidFill>
                          <a:latin typeface="Inter"/>
                        </a:rPr>
                        <a:t>+0,6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3977639"/>
            <a:ext cx="5410047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28600" indent="-201168">
              <a:spcAft>
                <a:spcPts val="600"/>
              </a:spcAft>
              <a:buChar char="•"/>
            </a:pPr>
            <a:r>
              <a:rPr sz="1300" b="0">
                <a:solidFill>
                  <a:srgbClr val="0F0F0F"/>
                </a:solidFill>
                <a:latin typeface="Inter"/>
              </a:rPr>
              <a:t>60 m², to årsverk, toppleie ca. 3 635 kr/m² i Tromsø.</a:t>
            </a:r>
          </a:p>
          <a:p>
            <a:pPr algn="l" marL="228600" indent="-201168">
              <a:spcAft>
                <a:spcPts val="600"/>
              </a:spcAft>
              <a:buChar char="•"/>
            </a:pPr>
            <a:r>
              <a:rPr sz="1300" b="0">
                <a:solidFill>
                  <a:srgbClr val="0F0F0F"/>
                </a:solidFill>
                <a:latin typeface="Inter"/>
              </a:rPr>
              <a:t>Utleie gir oppside: turister leier ofte klær framfor å kjøpe, og Houdini har drevet utleie siden 2012.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24447" y="1691640"/>
            <a:ext cx="5410047" cy="3749039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8767" y="1828800"/>
            <a:ext cx="486140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E6F45"/>
                </a:solidFill>
                <a:latin typeface="Inter"/>
              </a:rPr>
              <a:t>TRINN 2: SOMMER 2027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8767" y="2148840"/>
            <a:ext cx="486140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0F0F0F"/>
                </a:solidFill>
                <a:latin typeface="Inter"/>
              </a:rPr>
              <a:t>Fast butikk i Mack Kvartalet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8767" y="2743200"/>
            <a:ext cx="486140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28600" indent="-201168">
              <a:spcAft>
                <a:spcPts val="1000"/>
              </a:spcAft>
              <a:buChar char="•"/>
            </a:pPr>
            <a:r>
              <a:rPr sz="1400" b="0">
                <a:solidFill>
                  <a:srgbClr val="0F0F0F"/>
                </a:solidFill>
                <a:latin typeface="Inter"/>
              </a:rPr>
              <a:t>Åpner samtidig med hotellet, med inngang fra gaten og markedsgata.</a:t>
            </a:r>
          </a:p>
          <a:p>
            <a:pPr algn="l" marL="228600" indent="-201168">
              <a:spcAft>
                <a:spcPts val="1000"/>
              </a:spcAft>
              <a:buChar char="•"/>
            </a:pPr>
            <a:r>
              <a:rPr sz="1400" b="0">
                <a:solidFill>
                  <a:srgbClr val="0F0F0F"/>
                </a:solidFill>
                <a:latin typeface="Inter"/>
              </a:rPr>
              <a:t>Beslutning tas på tallene fra trinn 1.</a:t>
            </a:r>
          </a:p>
          <a:p>
            <a:pPr algn="l" marL="228600" indent="-201168">
              <a:spcAft>
                <a:spcPts val="1000"/>
              </a:spcAft>
              <a:buChar char="•"/>
            </a:pPr>
            <a:r>
              <a:rPr sz="1400" b="0">
                <a:solidFill>
                  <a:srgbClr val="0F0F0F"/>
                </a:solidFill>
                <a:latin typeface="Inter"/>
              </a:rPr>
              <a:t>Partner for utleie og testing: Tromsø Outdoor og guidene i Lyngen.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291072"/>
            <a:ext cx="11277295" cy="4114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A8A86"/>
                </a:solidFill>
                <a:latin typeface="Inter"/>
              </a:rPr>
              <a:t>Anslag (antatt): 65 % bruttomargin, lønn 0,63 MNOK, husleie 0,09 MNOK, innredning og logistikk 0,35 MNOK, 8 % andre kostnader. Utleieinntekter ikke medregnet. Kilder: Advanti Q4 2025 (leie), houdinisportswear.com (utleie siden 2012).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474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A86"/>
                </a:solidFill>
                <a:latin typeface="Inter"/>
              </a:rPr>
              <a:t>TIDSLINJE OG MODELL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474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8A8A86"/>
                </a:solidFill>
                <a:latin typeface="Inter"/>
              </a:rPr>
              <a:t>Forslag til Houdini Sportswear  ·  Bent Finset / SODAI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12772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F0F0F"/>
                </a:solidFill>
                <a:latin typeface="Inter"/>
              </a:rPr>
              <a:t>Forprosjektet er gratis og uforpliktende. Houdini velger fritt etter hvert trinn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331720"/>
            <a:ext cx="11277295" cy="36576"/>
          </a:xfrm>
          <a:prstGeom prst="rect">
            <a:avLst/>
          </a:prstGeom>
          <a:solidFill>
            <a:srgbClr val="E6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57200" y="2194560"/>
            <a:ext cx="310896" cy="310896"/>
          </a:xfrm>
          <a:prstGeom prst="ellipse">
            <a:avLst/>
          </a:prstGeom>
          <a:solidFill>
            <a:srgbClr val="0F0F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51760"/>
            <a:ext cx="174238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F0F0F"/>
                </a:solidFill>
                <a:latin typeface="Inter"/>
              </a:rPr>
              <a:t>Nov.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017520"/>
            <a:ext cx="174238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0F0F0F"/>
                </a:solidFill>
                <a:latin typeface="Inter"/>
              </a:rPr>
              <a:t>Møte og befaring i Akersgata 41</a:t>
            </a:r>
          </a:p>
        </p:txBody>
      </p:sp>
      <p:sp>
        <p:nvSpPr>
          <p:cNvPr id="9" name="Oval 8"/>
          <p:cNvSpPr/>
          <p:nvPr/>
        </p:nvSpPr>
        <p:spPr>
          <a:xfrm>
            <a:off x="2336749" y="2194560"/>
            <a:ext cx="310896" cy="310896"/>
          </a:xfrm>
          <a:prstGeom prst="ellipse">
            <a:avLst/>
          </a:prstGeom>
          <a:solidFill>
            <a:srgbClr val="FE6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6749" y="2651760"/>
            <a:ext cx="174238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F0F0F"/>
                </a:solidFill>
                <a:latin typeface="Inter"/>
              </a:rPr>
              <a:t>Des.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36749" y="3017520"/>
            <a:ext cx="174238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0F0F0F"/>
                </a:solidFill>
                <a:latin typeface="Inter"/>
              </a:rPr>
              <a:t>Forprosjekt Oslo og Tromsø. Gratis</a:t>
            </a:r>
          </a:p>
        </p:txBody>
      </p:sp>
      <p:sp>
        <p:nvSpPr>
          <p:cNvPr id="12" name="Oval 11"/>
          <p:cNvSpPr/>
          <p:nvPr/>
        </p:nvSpPr>
        <p:spPr>
          <a:xfrm>
            <a:off x="4216298" y="2194560"/>
            <a:ext cx="310896" cy="310896"/>
          </a:xfrm>
          <a:prstGeom prst="ellipse">
            <a:avLst/>
          </a:prstGeom>
          <a:solidFill>
            <a:srgbClr val="0F0F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16298" y="2651760"/>
            <a:ext cx="174238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F0F0F"/>
                </a:solidFill>
                <a:latin typeface="Inter"/>
              </a:rPr>
              <a:t>Q1 2027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16298" y="3017520"/>
            <a:ext cx="174238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0F0F0F"/>
                </a:solidFill>
                <a:latin typeface="Inter"/>
              </a:rPr>
              <a:t>Leiekontrakt og fast pris på tegning og produksjon</a:t>
            </a:r>
          </a:p>
        </p:txBody>
      </p:sp>
      <p:sp>
        <p:nvSpPr>
          <p:cNvPr id="15" name="Oval 14"/>
          <p:cNvSpPr/>
          <p:nvPr/>
        </p:nvSpPr>
        <p:spPr>
          <a:xfrm>
            <a:off x="6095847" y="2194560"/>
            <a:ext cx="310896" cy="310896"/>
          </a:xfrm>
          <a:prstGeom prst="ellipse">
            <a:avLst/>
          </a:prstGeom>
          <a:solidFill>
            <a:srgbClr val="0F0F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5847" y="2651760"/>
            <a:ext cx="174238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F0F0F"/>
                </a:solidFill>
                <a:latin typeface="Inter"/>
              </a:rPr>
              <a:t>Vinter 2027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5847" y="3017520"/>
            <a:ext cx="174238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0F0F0F"/>
                </a:solidFill>
                <a:latin typeface="Inter"/>
              </a:rPr>
              <a:t>Pop-up og utleie i Tromsø</a:t>
            </a:r>
          </a:p>
        </p:txBody>
      </p:sp>
      <p:sp>
        <p:nvSpPr>
          <p:cNvPr id="18" name="Oval 17"/>
          <p:cNvSpPr/>
          <p:nvPr/>
        </p:nvSpPr>
        <p:spPr>
          <a:xfrm>
            <a:off x="7975396" y="2194560"/>
            <a:ext cx="310896" cy="310896"/>
          </a:xfrm>
          <a:prstGeom prst="ellipse">
            <a:avLst/>
          </a:prstGeom>
          <a:solidFill>
            <a:srgbClr val="0F0F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75396" y="2651760"/>
            <a:ext cx="174238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F0F0F"/>
                </a:solidFill>
                <a:latin typeface="Inter"/>
              </a:rPr>
              <a:t>Sommer 2027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75396" y="3017520"/>
            <a:ext cx="174238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0F0F0F"/>
                </a:solidFill>
                <a:latin typeface="Inter"/>
              </a:rPr>
              <a:t>Butikk i Mack Kvartalet</a:t>
            </a:r>
          </a:p>
        </p:txBody>
      </p:sp>
      <p:sp>
        <p:nvSpPr>
          <p:cNvPr id="21" name="Oval 20"/>
          <p:cNvSpPr/>
          <p:nvPr/>
        </p:nvSpPr>
        <p:spPr>
          <a:xfrm>
            <a:off x="9854945" y="2194560"/>
            <a:ext cx="310896" cy="310896"/>
          </a:xfrm>
          <a:prstGeom prst="ellipse">
            <a:avLst/>
          </a:prstGeom>
          <a:solidFill>
            <a:srgbClr val="0F0F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54945" y="2651760"/>
            <a:ext cx="174238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F0F0F"/>
                </a:solidFill>
                <a:latin typeface="Inter"/>
              </a:rPr>
              <a:t>Høst 2027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54945" y="3017520"/>
            <a:ext cx="174238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0F0F0F"/>
                </a:solidFill>
                <a:latin typeface="Inter"/>
              </a:rPr>
              <a:t>Houdini Circle Oslo åpner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206240"/>
            <a:ext cx="1127729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F0F0F"/>
                </a:solidFill>
                <a:latin typeface="Inter"/>
              </a:rPr>
              <a:t>Forprosjekt: </a:t>
            </a:r>
            <a:r>
              <a:rPr sz="1500" b="0">
                <a:solidFill>
                  <a:srgbClr val="0F0F0F"/>
                </a:solidFill>
                <a:latin typeface="Inter"/>
              </a:rPr>
              <a:t>konsept, planløsning og illustrasjoner, uten kostnad og uten forpliktelse.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0F0F0F"/>
                </a:solidFill>
                <a:latin typeface="Inter"/>
              </a:rPr>
              <a:t>Tegning, produksjon og montasje: </a:t>
            </a:r>
            <a:r>
              <a:rPr sz="1500" b="0">
                <a:solidFill>
                  <a:srgbClr val="0F0F0F"/>
                </a:solidFill>
                <a:latin typeface="Inter"/>
              </a:rPr>
              <a:t>fast pris per trinn, som Houdini godkjenner før oppstart.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0F0F0F"/>
                </a:solidFill>
                <a:latin typeface="Inter"/>
              </a:rPr>
              <a:t>Lokale og forhandling: </a:t>
            </a:r>
            <a:r>
              <a:rPr sz="1500" b="0">
                <a:solidFill>
                  <a:srgbClr val="0F0F0F"/>
                </a:solidFill>
                <a:latin typeface="Inter"/>
              </a:rPr>
              <a:t>Bent fører dialogen med gårdeier, i samarbeid med megleren dere bruker.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291072"/>
            <a:ext cx="11277295" cy="4114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A8A86"/>
                </a:solidFill>
                <a:latin typeface="Inter"/>
              </a:rPr>
              <a:t>Tidslinjen er et forslag og avhenger av lokaler, kontrakter og Houdinis egne beslutninger.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474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A86"/>
                </a:solidFill>
                <a:latin typeface="Inter"/>
              </a:rPr>
              <a:t>LEVERANSE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474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8A8A86"/>
                </a:solidFill>
                <a:latin typeface="Inter"/>
              </a:rPr>
              <a:t>Forslag til Houdini Sportswear  ·  Bent Finset / SODAI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12772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F0F0F"/>
                </a:solidFill>
                <a:latin typeface="Inter"/>
              </a:rPr>
              <a:t>SODAI leverer butikken fra første skisse til nøkkelferdig åpning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2109155" cy="237744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2011680"/>
            <a:ext cx="384048" cy="384048"/>
          </a:xfrm>
          <a:prstGeom prst="ellipse">
            <a:avLst/>
          </a:prstGeom>
          <a:solidFill>
            <a:srgbClr val="0F0F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174339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F0F0F"/>
                </a:solidFill>
                <a:latin typeface="Inter"/>
              </a:rPr>
              <a:t>Lokale og vilkår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46120"/>
            <a:ext cx="17433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0F0F0F"/>
                </a:solidFill>
                <a:latin typeface="Inter"/>
              </a:rPr>
              <a:t>Søk, befaring og forhandling med gårdeier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9235" y="1828800"/>
            <a:ext cx="2109155" cy="2377440"/>
          </a:xfrm>
          <a:prstGeom prst="rect">
            <a:avLst/>
          </a:prstGeom>
          <a:solidFill>
            <a:srgbClr val="0F0F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932115" y="2011680"/>
            <a:ext cx="384048" cy="384048"/>
          </a:xfrm>
          <a:prstGeom prst="ellipse">
            <a:avLst/>
          </a:prstGeom>
          <a:solidFill>
            <a:srgbClr val="FE6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32115" y="2560320"/>
            <a:ext cx="174339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Inter"/>
              </a:rPr>
              <a:t>Forprosjekt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32115" y="3246120"/>
            <a:ext cx="17433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Inter"/>
              </a:rPr>
              <a:t>Konsept, planløsning og illustrasjoner. Gratis.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41270" y="1828800"/>
            <a:ext cx="2109155" cy="237744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224150" y="2011680"/>
            <a:ext cx="384048" cy="384048"/>
          </a:xfrm>
          <a:prstGeom prst="ellipse">
            <a:avLst/>
          </a:prstGeom>
          <a:solidFill>
            <a:srgbClr val="0F0F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24150" y="2560320"/>
            <a:ext cx="174339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F0F0F"/>
                </a:solidFill>
                <a:latin typeface="Inter"/>
              </a:rPr>
              <a:t>Tegning og kalkyle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24150" y="3246120"/>
            <a:ext cx="17433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0F0F0F"/>
                </a:solidFill>
                <a:latin typeface="Inter"/>
              </a:rPr>
              <a:t>Arbeidstegninger og fast pris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33305" y="1828800"/>
            <a:ext cx="2109155" cy="237744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516185" y="2011680"/>
            <a:ext cx="384048" cy="384048"/>
          </a:xfrm>
          <a:prstGeom prst="ellipse">
            <a:avLst/>
          </a:prstGeom>
          <a:solidFill>
            <a:srgbClr val="0F0F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Inter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16185" y="2560320"/>
            <a:ext cx="174339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F0F0F"/>
                </a:solidFill>
                <a:latin typeface="Inter"/>
              </a:rPr>
              <a:t>Produksjon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16185" y="3246120"/>
            <a:ext cx="17433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0F0F0F"/>
                </a:solidFill>
                <a:latin typeface="Inter"/>
              </a:rPr>
              <a:t>Egen snekkermester og møbeltapetserer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25340" y="1828800"/>
            <a:ext cx="2109155" cy="237744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808220" y="2011680"/>
            <a:ext cx="384048" cy="384048"/>
          </a:xfrm>
          <a:prstGeom prst="ellipse">
            <a:avLst/>
          </a:prstGeom>
          <a:solidFill>
            <a:srgbClr val="0F0F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Inter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08220" y="2560320"/>
            <a:ext cx="174339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F0F0F"/>
                </a:solidFill>
                <a:latin typeface="Inter"/>
              </a:rPr>
              <a:t>Montasje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08220" y="3246120"/>
            <a:ext cx="17433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0F0F0F"/>
                </a:solidFill>
                <a:latin typeface="Inter"/>
              </a:rPr>
              <a:t>Eget montasjeteam overleverer klart til åpning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572000"/>
            <a:ext cx="112772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F0F0F"/>
                </a:solidFill>
                <a:latin typeface="Inter"/>
              </a:rPr>
              <a:t>SODAI: </a:t>
            </a:r>
            <a:r>
              <a:rPr sz="1500" b="0">
                <a:solidFill>
                  <a:srgbClr val="0F0F0F"/>
                </a:solidFill>
                <a:latin typeface="Inter"/>
              </a:rPr>
              <a:t>etablert 2013, 13 ansatte og Gasellebedrift. Interiørarkitekt, teknisk tegner, snekkermester, møbeltapetserer og eget montasjeteam. Prosjekter i Norge og utlandet.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91072"/>
            <a:ext cx="11277295" cy="4114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A8A86"/>
                </a:solidFill>
                <a:latin typeface="Inter"/>
              </a:rPr>
              <a:t>Kilde: SODAI.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474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A86"/>
                </a:solidFill>
                <a:latin typeface="Inter"/>
              </a:rPr>
              <a:t>NESTE STEG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474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8A8A86"/>
                </a:solidFill>
                <a:latin typeface="Inter"/>
              </a:rPr>
              <a:t>Forslag til Houdini Sportswear  ·  Bent Finset / SODAI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12772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F0F0F"/>
                </a:solidFill>
                <a:latin typeface="Inter"/>
              </a:rPr>
              <a:t>Et møte på 30 minutter, og et gratis forprosjekt for Oslo og Tromsø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541004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F0F0F"/>
                </a:solidFill>
                <a:latin typeface="Inter"/>
              </a:rPr>
              <a:t>Bent Finset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48840"/>
            <a:ext cx="5410047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28600" indent="-201168">
              <a:spcAft>
                <a:spcPts val="1200"/>
              </a:spcAft>
              <a:buChar char="•"/>
            </a:pPr>
            <a:r>
              <a:rPr sz="1500" b="0">
                <a:solidFill>
                  <a:srgbClr val="0F0F0F"/>
                </a:solidFill>
                <a:latin typeface="Inter"/>
              </a:rPr>
              <a:t>Director of Expansion, Establishment &amp; Concept i Olivia Restauranter: bygget etableringsapparatet gjennom veksten fra 175 MNOK til 1,2 mrd. kr i Norden.</a:t>
            </a:r>
          </a:p>
          <a:p>
            <a:pPr algn="l" marL="228600" indent="-201168">
              <a:spcAft>
                <a:spcPts val="1200"/>
              </a:spcAft>
              <a:buChar char="•"/>
            </a:pPr>
            <a:r>
              <a:rPr sz="1500" b="0">
                <a:solidFill>
                  <a:srgbClr val="0F0F0F"/>
                </a:solidFill>
                <a:latin typeface="Inter"/>
              </a:rPr>
              <a:t>Kommersielt direktøransvar i 4Service / Compass Group, 280 MNOK.</a:t>
            </a:r>
          </a:p>
          <a:p>
            <a:pPr algn="l" marL="228600" indent="-201168">
              <a:spcAft>
                <a:spcPts val="1200"/>
              </a:spcAft>
              <a:buChar char="•"/>
            </a:pPr>
            <a:r>
              <a:rPr sz="1500" b="0">
                <a:solidFill>
                  <a:srgbClr val="0F0F0F"/>
                </a:solidFill>
                <a:latin typeface="Inter"/>
              </a:rPr>
              <a:t>Leder i dag etableringsprosjekter med SODAI og eiendomsutviklere, fra lokale til nøkkelferdig drift.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324447" y="1691640"/>
            <a:ext cx="5410047" cy="384048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98767" y="1874519"/>
            <a:ext cx="486140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F0F0F"/>
                </a:solidFill>
                <a:latin typeface="Inter"/>
              </a:rPr>
              <a:t>Forslag til neste steg</a:t>
            </a:r>
          </a:p>
        </p:txBody>
      </p:sp>
      <p:sp>
        <p:nvSpPr>
          <p:cNvPr id="9" name="Oval 8"/>
          <p:cNvSpPr/>
          <p:nvPr/>
        </p:nvSpPr>
        <p:spPr>
          <a:xfrm>
            <a:off x="6598767" y="2468880"/>
            <a:ext cx="365760" cy="365760"/>
          </a:xfrm>
          <a:prstGeom prst="ellipse">
            <a:avLst/>
          </a:prstGeom>
          <a:solidFill>
            <a:srgbClr val="FE6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1687" y="2450592"/>
            <a:ext cx="435848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0F0F0F"/>
                </a:solidFill>
                <a:latin typeface="Inter"/>
              </a:rPr>
              <a:t>Møte på Teams eller i Stockholm i uke 45.</a:t>
            </a:r>
          </a:p>
        </p:txBody>
      </p:sp>
      <p:sp>
        <p:nvSpPr>
          <p:cNvPr id="11" name="Oval 10"/>
          <p:cNvSpPr/>
          <p:nvPr/>
        </p:nvSpPr>
        <p:spPr>
          <a:xfrm>
            <a:off x="6598767" y="3337560"/>
            <a:ext cx="365760" cy="365760"/>
          </a:xfrm>
          <a:prstGeom prst="ellipse">
            <a:avLst/>
          </a:prstGeom>
          <a:solidFill>
            <a:srgbClr val="FE6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01687" y="3319272"/>
            <a:ext cx="435848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0F0F0F"/>
                </a:solidFill>
                <a:latin typeface="Inter"/>
              </a:rPr>
              <a:t>Befaring i Akersgata 41, og avklaring med Eiendomsspar om Mack Kvartalet.</a:t>
            </a:r>
          </a:p>
        </p:txBody>
      </p:sp>
      <p:sp>
        <p:nvSpPr>
          <p:cNvPr id="13" name="Oval 12"/>
          <p:cNvSpPr/>
          <p:nvPr/>
        </p:nvSpPr>
        <p:spPr>
          <a:xfrm>
            <a:off x="6598767" y="4206240"/>
            <a:ext cx="365760" cy="365760"/>
          </a:xfrm>
          <a:prstGeom prst="ellipse">
            <a:avLst/>
          </a:prstGeom>
          <a:solidFill>
            <a:srgbClr val="FE6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01687" y="4187952"/>
            <a:ext cx="435848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0F0F0F"/>
                </a:solidFill>
                <a:latin typeface="Inter"/>
              </a:rPr>
              <a:t>Forprosjekt med illustrasjoner for Oslo og Tromsø. Gratis.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71500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F0F0F"/>
                </a:solidFill>
                <a:latin typeface="Inter"/>
              </a:rPr>
              <a:t>Bent Finset  </a:t>
            </a:r>
            <a:r>
              <a:rPr sz="1400" b="0">
                <a:solidFill>
                  <a:srgbClr val="0F0F0F"/>
                </a:solidFill>
                <a:latin typeface="Inter"/>
              </a:rPr>
              <a:t>906 61 927  ·  bent@odeon.no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