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2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j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8221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FORSLAG TIL HOUDINI SPORTSWEAR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Inter"/>
              </a:rPr>
              <a:t>Houdini i Norge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Inter"/>
              </a:rPr>
              <a:t>Riktig sted i Oslo og Tromsø, levert nøkkelferdig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Bent Finset, i samarbeid med SODAI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Oktober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nter"/>
              </a:rPr>
              <a:t>Illustrasjon av konsept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SAMMENDRAG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Houdini bør stå der Norrøna og Arc’teryx står, i Oslo og i Tromsø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264787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2647873" cy="64008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22455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5C45"/>
                </a:solidFill>
                <a:latin typeface="Inter"/>
              </a:rPr>
              <a:t>Pris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51760"/>
            <a:ext cx="224553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F1D"/>
                </a:solidFill>
                <a:latin typeface="Inter"/>
              </a:rPr>
              <a:t>Houdini priser seg på Norrøna- og Arc’teryx-nivå. Bergans ligger 26 til 39 % lavere.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3673" y="1783080"/>
            <a:ext cx="264787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3673" y="1783080"/>
            <a:ext cx="2647873" cy="64008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4841" y="2057400"/>
            <a:ext cx="22455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5C45"/>
                </a:solidFill>
                <a:latin typeface="Inter"/>
              </a:rPr>
              <a:t>Oslo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4841" y="2651760"/>
            <a:ext cx="224553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F1D"/>
                </a:solidFill>
                <a:latin typeface="Inter"/>
              </a:rPr>
              <a:t>De nærmeste konkurrentene ligger ved Egertorget. Akersgata 41 er lagt ut til leie: 365 m², vegg i vegg med Klättermusen.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6" y="1783080"/>
            <a:ext cx="264787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1783080"/>
            <a:ext cx="2647873" cy="64008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4" y="2057400"/>
            <a:ext cx="22455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5C45"/>
                </a:solidFill>
                <a:latin typeface="Inter"/>
              </a:rPr>
              <a:t>Tromsø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314" y="2651760"/>
            <a:ext cx="224553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F1D"/>
                </a:solidFill>
                <a:latin typeface="Inter"/>
              </a:rPr>
              <a:t>1,3 millioner gjestedøgn i 2025, 59 % utenlandske. Mack Kvartalet åpner sommeren 2027 med Nord-Norges største hotell.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6619" y="1783080"/>
            <a:ext cx="2647873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86619" y="1783080"/>
            <a:ext cx="2647873" cy="64008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7787" y="2057400"/>
            <a:ext cx="22455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E5C45"/>
                </a:solidFill>
                <a:latin typeface="Inter"/>
              </a:rPr>
              <a:t>Leveranse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7787" y="2651760"/>
            <a:ext cx="224553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F1D"/>
                </a:solidFill>
                <a:latin typeface="Inter"/>
              </a:rPr>
              <a:t>SODAI leverer butikken nøkkelferdig, fra skisse til åpning. Forprosjekt med illustrasjoner er gratis.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Kilder og forbehold står på hver 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SEGMENT OG PRIS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Houdini priser seg på Norrøna- og Arc’teryx-nivå, ikke på Bergans-nivå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7589520" cy="3867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1188720"/>
                <a:gridCol w="1188720"/>
                <a:gridCol w="118872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Ordinær pris, kr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Houdini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Flaggskip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7 000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9 999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10 499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4 500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Rimeligste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4 000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4 499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2 799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Fleece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2 400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1 699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Isolert 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ca. 2 920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4 799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ca. 3 299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Merino overdel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ca. 1 310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ca. 899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Turbukse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ca. 3 220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2 499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2 199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Prisindeks, kurv (Bergans = 100)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135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151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163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1F1D"/>
                          </a:solidFill>
                          <a:latin typeface="Inter"/>
                        </a:rPr>
                        <a:t>Median per kategori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147</a:t>
                      </a:r>
                    </a:p>
                  </a:txBody>
                  <a:tcPr marL="73152" marR="73152" marT="27432" marB="27432" anchor="ctr">
                    <a:solidFill>
                      <a:srgbClr val="E6EFE9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125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134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C1F1D"/>
                          </a:solidFill>
                          <a:latin typeface="Inter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58200" y="1783080"/>
            <a:ext cx="327629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Houdini er dyrest av de fire på fleece, turbukse og lett skall.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Norrøna og Arc’teryx ligger 51 til 63 % over Bergans på samme kurv.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Houdini er premium nisje, med bærekraft og urban bruk som profil.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Ordinære priser, herre, sjekket 19.10.2026 i merkenes norske nettbutikker og hos Fjellsport og Anton Sport. «ca.» = omregnet fra SEK (1 SEK ≈ 1,006 NOK) eller nærmeste tilsvarende produkt. Prisindeks: egen beregning.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De nærmeste konkurrentene ligger innen to minutters gange fra hverandre ved Egertorget</a:t>
            </a:r>
          </a:p>
        </p:txBody>
      </p:sp>
      <p:pic>
        <p:nvPicPr>
          <p:cNvPr id="4" name="Picture 3" descr="osl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516403" cy="4526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39363" y="1737360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78275" y="170078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Arc’teryx, Karl Johans gate 21. 361 m², åpnet juni 2026</a:t>
            </a:r>
          </a:p>
        </p:txBody>
      </p:sp>
      <p:sp>
        <p:nvSpPr>
          <p:cNvPr id="7" name="Oval 6"/>
          <p:cNvSpPr/>
          <p:nvPr/>
        </p:nvSpPr>
        <p:spPr>
          <a:xfrm>
            <a:off x="6339363" y="2167128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8275" y="213055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Fjällräven, Karl Johans gate 19. 310 m²</a:t>
            </a:r>
          </a:p>
        </p:txBody>
      </p:sp>
      <p:sp>
        <p:nvSpPr>
          <p:cNvPr id="9" name="Oval 8"/>
          <p:cNvSpPr/>
          <p:nvPr/>
        </p:nvSpPr>
        <p:spPr>
          <a:xfrm>
            <a:off x="6339363" y="2596896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275" y="2560320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Peak Performance, Karl Johans gate 18</a:t>
            </a:r>
          </a:p>
        </p:txBody>
      </p:sp>
      <p:sp>
        <p:nvSpPr>
          <p:cNvPr id="11" name="Oval 10"/>
          <p:cNvSpPr/>
          <p:nvPr/>
        </p:nvSpPr>
        <p:spPr>
          <a:xfrm>
            <a:off x="6339363" y="3026664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8275" y="2990088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Norrøna, Akersgata 30. Flaggskip</a:t>
            </a:r>
          </a:p>
        </p:txBody>
      </p:sp>
      <p:sp>
        <p:nvSpPr>
          <p:cNvPr id="13" name="Oval 12"/>
          <p:cNvSpPr/>
          <p:nvPr/>
        </p:nvSpPr>
        <p:spPr>
          <a:xfrm>
            <a:off x="6339363" y="3456432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8275" y="3419856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Klättermusen, Akersgata 43. 282 m², mars 2025</a:t>
            </a:r>
          </a:p>
        </p:txBody>
      </p:sp>
      <p:sp>
        <p:nvSpPr>
          <p:cNvPr id="15" name="Oval 14"/>
          <p:cNvSpPr/>
          <p:nvPr/>
        </p:nvSpPr>
        <p:spPr>
          <a:xfrm>
            <a:off x="6339363" y="3886200"/>
            <a:ext cx="310896" cy="310896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275" y="384962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Houdini, alternativ A: Karl Johan</a:t>
            </a:r>
          </a:p>
        </p:txBody>
      </p:sp>
      <p:sp>
        <p:nvSpPr>
          <p:cNvPr id="17" name="Oval 16"/>
          <p:cNvSpPr/>
          <p:nvPr/>
        </p:nvSpPr>
        <p:spPr>
          <a:xfrm>
            <a:off x="6339363" y="4315968"/>
            <a:ext cx="310896" cy="310896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8275" y="427939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Houdini, alternativ B: Akersgata 41. Til leie, 365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9363" y="4846320"/>
            <a:ext cx="53951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F1D"/>
                </a:solidFill>
                <a:latin typeface="Inter"/>
              </a:rPr>
              <a:t>Karl Johan: </a:t>
            </a:r>
            <a:r>
              <a:rPr sz="1300" b="0">
                <a:solidFill>
                  <a:srgbClr val="1C1F1D"/>
                </a:solidFill>
                <a:latin typeface="Inter"/>
              </a:rPr>
              <a:t>ca. 4 500 forbipasserende i timen på hverdager og 8 000 på lørdager.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Bergans ligger ved Rådhuset og Helly Hansen ved Jernbanetorget, utenfor klyngen.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Plassering på kvartalsnivå. Fotgjengertall: Thon Eiendom, udatert. Kilder: FashionUnited 23.06.2026 (Arc’teryx), Fjällräven, Klättermusen, FINN 418714773 (oppdatert 02.03.2026). Kart: © OpenStreetMap-bidragsytere.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Konkurrentene er store, og Arc’teryx har tatt reparasjon inn i butikken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77295" cy="2852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2377440"/>
                <a:gridCol w="4023360"/>
                <a:gridCol w="3230575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Segment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Norsk selskap, driftsinntekter 2025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Butikk i Oslo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Amer Sports Norge AS: 444 MNOK (flere merker)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Karl Johans gate 21, med reparasjon og vask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Norrøna Sport AS: ca. 805 MNOK. Butikkene: 284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Akersgata 30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Fjällräven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Skandinavisk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Fenix Outdoor Norge AS: 131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Karl Johans gate 19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Klättermusen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Skandinavisk bærekraft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Klättermusen Norge AS: 15 MNOK, underskudd 7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Akersgata 43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1F1D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Bredt friluftsmerke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Bergans Fritid AS: 373 MNOK, underskudd 69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1F1D"/>
                          </a:solidFill>
                          <a:latin typeface="Inter"/>
                        </a:rPr>
                        <a:t>Ved Rådhuset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709160"/>
            <a:ext cx="11277295" cy="914400"/>
          </a:xfrm>
          <a:prstGeom prst="rect">
            <a:avLst/>
          </a:prstGeom>
          <a:solidFill>
            <a:srgbClr val="E6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1091153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C1F1D"/>
                </a:solidFill>
                <a:latin typeface="Inter"/>
              </a:rPr>
              <a:t>Fagfolk selger. </a:t>
            </a:r>
            <a:r>
              <a:rPr sz="1400" b="0">
                <a:solidFill>
                  <a:srgbClr val="1C1F1D"/>
                </a:solidFill>
                <a:latin typeface="Inter"/>
              </a:rPr>
              <a:t>Arc’teryx kaller de ansatte «Product Guides» og ber om lidenskap for friluft. Vi har nettverk til å rekruttere erfarne fagfolk fra sportsbransjen, blant annet fra Bull Ski &amp; Kajakk.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Driftsinntekter for norsk selskap, ikke per butikk. Kilde: Proff og Brønnøysundregistrene via søk 24.10.2026, ikke kontrollert mot originalregnskap. Arc’teryx: FashionUnited 23.06.2026, stillingsannonser på jobs.lever.co.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OSLO: BELIGGENHET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Akersgata 41 er lagt ut til leie og gir samme naboskap som Karl Johan</a:t>
            </a:r>
          </a:p>
        </p:txBody>
      </p:sp>
      <p:pic>
        <p:nvPicPr>
          <p:cNvPr id="4" name="Picture 3" descr="kj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76800" cy="27432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94360" y="1737360"/>
            <a:ext cx="384048" cy="384048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Karl Johan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Høyest synlighet og flest forbipasserende. Fant ingen ledige butikklokaler på gateplan i 2026. Husleie 20 000 til 27 000 kr/m² (Colliers 2021).</a:t>
            </a:r>
          </a:p>
        </p:txBody>
      </p:sp>
      <p:pic>
        <p:nvPicPr>
          <p:cNvPr id="8" name="Picture 7" descr="ak_c16x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7" y="1600200"/>
            <a:ext cx="4876800" cy="27432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93027" y="1737360"/>
            <a:ext cx="384048" cy="384048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5867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Akersgata 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Lagt ut til leie: 365 m² på to plan, tidligere klesbutikk. Vegg i vegg med Klättermusen og nær Norrøna. Eier: Thon Eiendom. Husleie hentes inn.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05856"/>
            <a:ext cx="11277295" cy="502920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705856"/>
            <a:ext cx="109115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Anbefaling: Akersgata 41. </a:t>
            </a:r>
            <a:r>
              <a:rPr sz="1300" b="0">
                <a:solidFill>
                  <a:srgbClr val="FFFFFF"/>
                </a:solidFill>
                <a:latin typeface="Inter"/>
              </a:rPr>
              <a:t>Lokalet er lagt ut til leie, naboene er de samme, og husleien er trolig lavere. Karl Johan krever rundt 16 MNOK i netto salg i året for å gå i null (anslag).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Illustrasjoner av konsept. Fasadene er ikke tegnet etter byggene. Nullpunkt: 200 m², 27 000 kr/m², 65 % bruttomargin, 5 årsverk à 0,75 MNOK, 8 % andre kostnader. Kilder: FINN 418714773, Colliers via Estate Nyheter (2021).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OSLO: KONSEPT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Butikk og reparasjonsverksted i samme rom gjør bærekraften synlig</a:t>
            </a:r>
          </a:p>
        </p:txBody>
      </p:sp>
      <p:pic>
        <p:nvPicPr>
          <p:cNvPr id="4" name="Picture 3" descr="interior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406640" cy="41662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91640"/>
            <a:ext cx="350489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Houdini Circle i Stockholm (2023) samler kjøp, leie, reparasjon og brukt i én butikk.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Arc’teryx åpnet reparasjon og vask i Karl Johans gate 21 i juni 2026.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Et synlig verksted gir kundene en grunn til å komme tilbake, og skiller Houdini fra naboene.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Illustrasjon av konsept. Kilder: Suston Magazine 02.10.2023 (Houdini Circle), FashionUnited 23.06.2026 (Arc’teryx ReBIRD).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TROMSØ: MARKED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Tromsø hadde 1,3 millioner gjestedøgn i 2025, og 59 % var utenlandske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2647873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2821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E5C45"/>
                </a:solidFill>
                <a:latin typeface="Inter"/>
              </a:rPr>
              <a:t>1,31 mill.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28211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06C"/>
                </a:solidFill>
                <a:latin typeface="Inter"/>
              </a:rPr>
              <a:t>kommersielle gjestedøgn, +10,3 %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3673" y="1691640"/>
            <a:ext cx="2647873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6553" y="1828800"/>
            <a:ext cx="22821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E5C45"/>
                </a:solidFill>
                <a:latin typeface="Inter"/>
              </a:rPr>
              <a:t>59 %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2697480"/>
            <a:ext cx="228211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06C"/>
                </a:solidFill>
                <a:latin typeface="Inter"/>
              </a:rPr>
              <a:t>utenlandske gjestedøgn, +20,7 %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6" y="1691640"/>
            <a:ext cx="2647873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6" y="1828800"/>
            <a:ext cx="22821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E5C45"/>
                </a:solidFill>
                <a:latin typeface="Inter"/>
              </a:rPr>
              <a:t>2,97 mill.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3026" y="2697480"/>
            <a:ext cx="228211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06C"/>
                </a:solidFill>
                <a:latin typeface="Inter"/>
              </a:rPr>
              <a:t>flypassasjerer, +10,7 %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86619" y="1691640"/>
            <a:ext cx="2647873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9499" y="1828800"/>
            <a:ext cx="228211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2E5C45"/>
                </a:solidFill>
                <a:latin typeface="Inter"/>
              </a:rPr>
              <a:t>79 932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9499" y="2697480"/>
            <a:ext cx="228211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06C"/>
                </a:solidFill>
                <a:latin typeface="Inter"/>
              </a:rPr>
              <a:t>innbyggere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94760"/>
            <a:ext cx="112772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Asia er Houdinis største marked, og utenlandske gjester driver veksten i Tromsø.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Vinteren er høysesong: overnattingene i Troms økte 14 % i januar og 17 % i februar 2026.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600" b="0">
                <a:solidFill>
                  <a:srgbClr val="1C1F1D"/>
                </a:solidFill>
                <a:latin typeface="Inter"/>
              </a:rPr>
              <a:t>Sommeren 2026 var svakere: hotellbelegget i Tromsø falt 6 % fra midten av juni til midten av juli.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Kilder: Visit Tromsø, overnattingsstatistikk 2025 (Airbnb ikke med). Avinor via flysmart24 (15.02.2026). SSB kommunefakta 2. kvartal 2026. NHO Arktis 2026. NRK 2026. Habit 10.2026 (Asia).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TROMSØ: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Ingen premiummerker har egen butikk i Storgata</a:t>
            </a:r>
          </a:p>
        </p:txBody>
      </p:sp>
      <p:pic>
        <p:nvPicPr>
          <p:cNvPr id="4" name="Picture 3" descr="troms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410221" cy="45262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233181" y="1737360"/>
            <a:ext cx="310896" cy="310896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72093" y="1700784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Mack Kvartalet, Storgata 5. Houdini, forslag</a:t>
            </a:r>
          </a:p>
        </p:txBody>
      </p:sp>
      <p:sp>
        <p:nvSpPr>
          <p:cNvPr id="7" name="Oval 6"/>
          <p:cNvSpPr/>
          <p:nvPr/>
        </p:nvSpPr>
        <p:spPr>
          <a:xfrm>
            <a:off x="5233181" y="2167128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2093" y="2130552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Norrøna, Alti Nerstranda. Egen butikkdrift</a:t>
            </a:r>
          </a:p>
        </p:txBody>
      </p:sp>
      <p:sp>
        <p:nvSpPr>
          <p:cNvPr id="9" name="Oval 8"/>
          <p:cNvSpPr/>
          <p:nvPr/>
        </p:nvSpPr>
        <p:spPr>
          <a:xfrm>
            <a:off x="5233181" y="2596896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2093" y="2560320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Bergans, Prostneset havneterminal. Hurtigruten</a:t>
            </a:r>
          </a:p>
        </p:txBody>
      </p:sp>
      <p:sp>
        <p:nvSpPr>
          <p:cNvPr id="11" name="Oval 10"/>
          <p:cNvSpPr/>
          <p:nvPr/>
        </p:nvSpPr>
        <p:spPr>
          <a:xfrm>
            <a:off x="5233181" y="3026664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2093" y="2990088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Naturkompaniet, Storgata 52. Fenix Outdoor, 2023</a:t>
            </a:r>
          </a:p>
        </p:txBody>
      </p:sp>
      <p:sp>
        <p:nvSpPr>
          <p:cNvPr id="13" name="Oval 12"/>
          <p:cNvSpPr/>
          <p:nvPr/>
        </p:nvSpPr>
        <p:spPr>
          <a:xfrm>
            <a:off x="5233181" y="3456432"/>
            <a:ext cx="310896" cy="310896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72093" y="3419856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Nansen Outdoor, Storgata 61. Helly Hansen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51469" y="4005072"/>
            <a:ext cx="274320" cy="64008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72093" y="3840480"/>
            <a:ext cx="60624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Kaiene mellom Mack og Strandtorget, eid av Tromsø Havn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3181" y="4434840"/>
            <a:ext cx="650131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C1F1D"/>
                </a:solidFill>
                <a:latin typeface="Inter"/>
              </a:rPr>
              <a:t>Utenfor kartet, omsetning 2025: </a:t>
            </a:r>
            <a:r>
              <a:rPr sz="1300" b="0">
                <a:solidFill>
                  <a:srgbClr val="1C1F1D"/>
                </a:solidFill>
                <a:latin typeface="Inter"/>
              </a:rPr>
              <a:t>Tromsø Ski &amp; Sykkel 48 MNOK, Pyramiden Sport 42 MNOK, Sport 1 Jekta 38 MNOK.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C1F1D"/>
                </a:solidFill>
                <a:latin typeface="Inter"/>
              </a:rPr>
              <a:t>Fem lokale butikker fører Arc’teryx, Norrøna eller Patagonia. Vi fant ingen som fører Houdini i Nord-Norge.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Plassering ca. Kilder: Proff via søk 24.10.2026, Alti Nerstranda, Bergans, OI Compass 2023 (Naturkompaniet), Visit Norway (Nansen), Tromsø Havn. Kart: © OpenStreetMap-bidragsytere.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Mack Kvartalet blir et nytt byrom med markedsgate, food court og hotell under samme tak</a:t>
            </a:r>
          </a:p>
        </p:txBody>
      </p:sp>
      <p:pic>
        <p:nvPicPr>
          <p:cNvPr id="4" name="Picture 3" descr="e-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39760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62720" y="1691640"/>
            <a:ext cx="4071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E5C45"/>
                </a:solidFill>
                <a:latin typeface="Inter"/>
              </a:rPr>
              <a:t>21 000 m²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62720" y="2103120"/>
            <a:ext cx="4071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06C"/>
                </a:solidFill>
                <a:latin typeface="Inter"/>
              </a:rPr>
              <a:t>totalt i kvartalet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62720" y="2560320"/>
            <a:ext cx="4071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E5C45"/>
                </a:solidFill>
                <a:latin typeface="Inter"/>
              </a:rPr>
              <a:t>351 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2720" y="2971800"/>
            <a:ext cx="4071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06C"/>
                </a:solidFill>
                <a:latin typeface="Inter"/>
              </a:rPr>
              <a:t>Citybox, Nord-Norges største hotell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62720" y="3429000"/>
            <a:ext cx="4071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E5C45"/>
                </a:solidFill>
                <a:latin typeface="Inter"/>
              </a:rPr>
              <a:t>ca. 5 300 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2720" y="3840480"/>
            <a:ext cx="4071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06C"/>
                </a:solidFill>
                <a:latin typeface="Inter"/>
              </a:rPr>
              <a:t>handel og servering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720" y="4297680"/>
            <a:ext cx="4071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E5C45"/>
                </a:solidFill>
                <a:latin typeface="Inter"/>
              </a:rPr>
              <a:t>Sommer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720" y="4709160"/>
            <a:ext cx="4071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06C"/>
                </a:solidFill>
                <a:latin typeface="Inter"/>
              </a:rPr>
              <a:t>planlagt åpning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Illustrasjoner: Eiendomsspar / Mack Kvartalet. Kilder: eiendomsspar.no, cityboxhotels.com (2026). Handel og servering: 8 000 m² oppgitt inkludert ca. 2 700 m² kontor, egen beregning.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Nord-Norges største hotell gir kunder i samme bygg hele året</a:t>
            </a:r>
          </a:p>
        </p:txBody>
      </p:sp>
      <p:pic>
        <p:nvPicPr>
          <p:cNvPr id="4" name="Picture 3" descr="e-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315200" cy="31113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596335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351 rom gir rundt 150 000 gjestedøgn i året i samme bygg (anslag).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Byggingen startet sommeren 2025. Åpning sommeren 2027.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Eiendomsspar og Ludwig Mack investerer 1,2 mrd. kr i hotellet.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Tromsø Havn eier kaiene foran kvartalet og planlegger kaipromenade og flytebrygger. Planen er ikke vedtatt.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Anslag: 351 rom, 75 % belegg, 1,6 gjester per rom. Illustrasjon: Eiendomsspar / Mack Kvartalet. Kilder: eiendomsspar.no, Estate Nyheter (2024), tromso.havn.no.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Houdini kan ligge med inngang både fra gaten og fra markedsgata</a:t>
            </a:r>
          </a:p>
        </p:txBody>
      </p:sp>
      <p:pic>
        <p:nvPicPr>
          <p:cNvPr id="4" name="Picture 3" descr="plan_hou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115656" cy="379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F1D"/>
                </a:solidFill>
                <a:latin typeface="Inter"/>
              </a:rPr>
              <a:t>Lokale 1.01 A har inngang fra gaten og fra markedsgata. Nybygget overleveres sommeren 2027, så innredningen kan tegnes inn før overtakelse, uten riving eller ombygging.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Plantegning 1. etasje: Eiendomsspar / Mack Kvartalet. Houdini er tegnet inn som forslag. Areal, vilkår og tilgjengelighet er ikke avklart med Eiendomsspar.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LEVERANSE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SODAI leverer butikken fra første skisse til nøkkelferdig åpning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10915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011680"/>
            <a:ext cx="384048" cy="384048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Lokale og vilkår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F1D"/>
                </a:solidFill>
                <a:latin typeface="Inter"/>
              </a:rPr>
              <a:t>Søk, befaring og forhandling med gårdeier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9235" y="1828800"/>
            <a:ext cx="2109155" cy="2377440"/>
          </a:xfrm>
          <a:prstGeom prst="rect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932115" y="2011680"/>
            <a:ext cx="384048" cy="384048"/>
          </a:xfrm>
          <a:prstGeom prst="ellipse">
            <a:avLst/>
          </a:prstGeom>
          <a:solidFill>
            <a:srgbClr val="1822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211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Forprosjekt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Konsept, planløsning og illustrasjoner. Gratis.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1270" y="1828800"/>
            <a:ext cx="210915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24150" y="2011680"/>
            <a:ext cx="384048" cy="384048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415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Tegning og kalkyle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F1D"/>
                </a:solidFill>
                <a:latin typeface="Inter"/>
              </a:rPr>
              <a:t>Arbeidstegninger og pris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3305" y="1828800"/>
            <a:ext cx="210915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16185" y="2011680"/>
            <a:ext cx="384048" cy="384048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18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Produksjon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18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F1D"/>
                </a:solidFill>
                <a:latin typeface="Inter"/>
              </a:rPr>
              <a:t>Egen snekkermester og møbeltapetserer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25340" y="1828800"/>
            <a:ext cx="210915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08220" y="2011680"/>
            <a:ext cx="384048" cy="384048"/>
          </a:xfrm>
          <a:prstGeom prst="ellipse">
            <a:avLst/>
          </a:prstGeom>
          <a:solidFill>
            <a:srgbClr val="B5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822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C1F1D"/>
                </a:solidFill>
                <a:latin typeface="Inter"/>
              </a:rPr>
              <a:t>Montasje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822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C1F1D"/>
                </a:solidFill>
                <a:latin typeface="Inter"/>
              </a:rPr>
              <a:t>Eget montasjeteam overleverer klart til åpning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1F1D"/>
                </a:solidFill>
                <a:latin typeface="Inter"/>
              </a:rPr>
              <a:t>SODAI: </a:t>
            </a:r>
            <a:r>
              <a:rPr sz="1500" b="0">
                <a:solidFill>
                  <a:srgbClr val="1C1F1D"/>
                </a:solidFill>
                <a:latin typeface="Inter"/>
              </a:rPr>
              <a:t>etablert 2013, 13 ansatte, Gasellebedrift og kåret til en av Norges beste arbeidsplasser av Great Place to Work i 2025. Interiørarkitekt, teknisk tegner, snekkermester, møbeltapetserer og eget montasjeteam. Prosjekter i Norge og utlandet.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706C"/>
                </a:solidFill>
                <a:latin typeface="Inter"/>
              </a:rPr>
              <a:t>Kilde: SODAI.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E5C45"/>
                </a:solidFill>
                <a:latin typeface="Inter"/>
              </a:rPr>
              <a:t>NESTE STEG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1F1D"/>
                </a:solidFill>
                <a:latin typeface="Inter"/>
              </a:rPr>
              <a:t>Et møte på 30 minutter, og et gratis forprosjekt for Oslo og Tromsø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54100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5C45"/>
                </a:solidFill>
                <a:latin typeface="Inter"/>
              </a:rPr>
              <a:t>Om Bent Finset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5410047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Egne restauranter, deretter ansvar for etablering og konsept i Olivia Gruppen gjennom veksten fra 175 MNOK til 1,2 mrd. kr i Norden.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Kommersielt direktøransvar i 4Service / Compass Group, 280 MNOK.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1C1F1D"/>
                </a:solidFill>
                <a:latin typeface="Inter"/>
              </a:rPr>
              <a:t>I dag forretningsutvikling for SODAI, en F&amp;B-aktør og eiendomsutviklere: lokasjon, leietakermiks og beslutningsgrunnlag.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691640"/>
            <a:ext cx="5410047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874519"/>
            <a:ext cx="486140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5C45"/>
                </a:solidFill>
                <a:latin typeface="Inter"/>
              </a:rPr>
              <a:t>Forslag til neste steg</a:t>
            </a:r>
          </a:p>
        </p:txBody>
      </p:sp>
      <p:sp>
        <p:nvSpPr>
          <p:cNvPr id="8" name="Oval 7"/>
          <p:cNvSpPr/>
          <p:nvPr/>
        </p:nvSpPr>
        <p:spPr>
          <a:xfrm>
            <a:off x="6598767" y="2468880"/>
            <a:ext cx="365760" cy="365760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01687" y="245059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1F1D"/>
                </a:solidFill>
                <a:latin typeface="Inter"/>
              </a:rPr>
              <a:t>Møte på Teams eller i Stockholm i uke 45.</a:t>
            </a:r>
          </a:p>
        </p:txBody>
      </p:sp>
      <p:sp>
        <p:nvSpPr>
          <p:cNvPr id="10" name="Oval 9"/>
          <p:cNvSpPr/>
          <p:nvPr/>
        </p:nvSpPr>
        <p:spPr>
          <a:xfrm>
            <a:off x="6598767" y="3337560"/>
            <a:ext cx="365760" cy="365760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1687" y="331927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1F1D"/>
                </a:solidFill>
                <a:latin typeface="Inter"/>
              </a:rPr>
              <a:t>Befaring i Akersgata 41, og avklaring med Eiendomsspar om Mack Kvartalet.</a:t>
            </a:r>
          </a:p>
        </p:txBody>
      </p:sp>
      <p:sp>
        <p:nvSpPr>
          <p:cNvPr id="12" name="Oval 11"/>
          <p:cNvSpPr/>
          <p:nvPr/>
        </p:nvSpPr>
        <p:spPr>
          <a:xfrm>
            <a:off x="6598767" y="4206240"/>
            <a:ext cx="365760" cy="365760"/>
          </a:xfrm>
          <a:prstGeom prst="ellipse">
            <a:avLst/>
          </a:prstGeom>
          <a:solidFill>
            <a:srgbClr val="2E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1687" y="418795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1F1D"/>
                </a:solidFill>
                <a:latin typeface="Inter"/>
              </a:rPr>
              <a:t>Forprosjekt med illustrasjoner for Oslo og Tromsø. Gratis.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C1F1D"/>
                </a:solidFill>
                <a:latin typeface="Inter"/>
              </a:rPr>
              <a:t>Bent Finset  </a:t>
            </a:r>
            <a:r>
              <a:rPr sz="1400" b="0">
                <a:solidFill>
                  <a:srgbClr val="1C1F1D"/>
                </a:solidFill>
                <a:latin typeface="Inter"/>
              </a:rPr>
              <a:t>906 61 927  ·  bent@odeon.no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