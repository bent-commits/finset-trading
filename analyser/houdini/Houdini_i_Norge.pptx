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j_b_c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F0F0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E6F45"/>
                </a:solidFill>
                <a:latin typeface="Inter"/>
              </a:rPr>
              <a:t>FORSLAG TIL HOUDINI SPORTSWEAR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Inter"/>
              </a:rPr>
              <a:t>Houdini i Norge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Inter"/>
              </a:rPr>
              <a:t>Mulige beliggenheter i Oslo og Tromsø, levert nøkkelferdig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Bent Finset, i samarbeid med SODAI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64465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Illustrasjon av konsept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SAMMENDRAG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Mulige beliggenheter der Norrøna og Arc’teryx allerede møter kundene, i Oslo og Tromsø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2647873" cy="4572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6478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0F0F"/>
                </a:solidFill>
                <a:latin typeface="Inter"/>
              </a:rPr>
              <a:t>Pris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55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F0F0F"/>
                </a:solidFill>
                <a:latin typeface="Inter"/>
              </a:rPr>
              <a:t>Houdini ligger i premiumsegmentet med Norrøna og Arc’teryx, 35 % over Bergans.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3673" y="1783080"/>
            <a:ext cx="2647873" cy="4572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3673" y="2011680"/>
            <a:ext cx="26478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0F0F"/>
                </a:solidFill>
                <a:latin typeface="Inter"/>
              </a:rPr>
              <a:t>Oslo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3673" y="2606040"/>
            <a:ext cx="255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F0F0F"/>
                </a:solidFill>
                <a:latin typeface="Inter"/>
              </a:rPr>
              <a:t>Akersgata 41 ligger i konkurrentklyngen ved Egertorget. Sandvika Storsenter er et alternativ med 7,9 mill. besøkende i året.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6" y="1783080"/>
            <a:ext cx="2647873" cy="4572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146" y="2011680"/>
            <a:ext cx="26478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0F0F"/>
                </a:solidFill>
                <a:latin typeface="Inter"/>
              </a:rPr>
              <a:t>Tromsø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06040"/>
            <a:ext cx="255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F0F0F"/>
                </a:solidFill>
                <a:latin typeface="Inter"/>
              </a:rPr>
              <a:t>Mulig start med vinterutleie, og en eventuell fast butikk i Mack Kvartalet når hotellet åpner sommeren 2027.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6619" y="1783080"/>
            <a:ext cx="2647873" cy="4572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6619" y="2011680"/>
            <a:ext cx="26478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0F0F"/>
                </a:solidFill>
                <a:latin typeface="Inter"/>
              </a:rPr>
              <a:t>Leveranse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6619" y="2606040"/>
            <a:ext cx="255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F0F0F"/>
                </a:solidFill>
                <a:latin typeface="Inter"/>
              </a:rPr>
              <a:t>SODAI leverer nøkkelferdig. Forprosjekt med illustrasjoner er gratis og uforpliktende.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Forslagene bygger på offentlige tall og egne anslag. Houdinis egen strategi og interne tall kjenner vi ikke. Kilder og forbehold står på hver 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SEGMENT OG PRIS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Houdini ligger i premiumsegmentet: 35 % over Bergans, nær Norrøna og Arc’teryx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7589520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Ordinær pris, kr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Houdini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Norrøna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Arc’teryx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Bergans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Flaggskip skalljakke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7 000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9 999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10 499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4 500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Rimeligste skalljakke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4 000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3 999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4 499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2 799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Fleece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2 400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1 999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1 699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1 599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Isolert jakke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ca. 2 920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3 999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4 799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ca. 3 299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Merino overdel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ca. 1 310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ca. 899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1 599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1 299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Turbukse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ca. 3 220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2 499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2 199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1 999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Prisindeks, kurv (Bergans = 100)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135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151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163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1783080"/>
            <a:ext cx="3276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1400"/>
              </a:spcAft>
              <a:buChar char="•"/>
            </a:pPr>
            <a:r>
              <a:rPr sz="1600" b="0">
                <a:solidFill>
                  <a:srgbClr val="0F0F0F"/>
                </a:solidFill>
                <a:latin typeface="Inter"/>
              </a:rPr>
              <a:t>Houdini er dyrest av de fire på fleece og turbukse.</a:t>
            </a:r>
          </a:p>
          <a:p>
            <a:pPr algn="l" marL="228600" indent="-201168">
              <a:spcAft>
                <a:spcPts val="1400"/>
              </a:spcAft>
              <a:buChar char="•"/>
            </a:pPr>
            <a:r>
              <a:rPr sz="1600" b="0">
                <a:solidFill>
                  <a:srgbClr val="0F0F0F"/>
                </a:solidFill>
                <a:latin typeface="Inter"/>
              </a:rPr>
              <a:t>Norrøna og Arc’teryx løftes av ekspedisjonsjakker til over 9 000 kr. Den kategorien har ikke Houdini.</a:t>
            </a:r>
          </a:p>
          <a:p>
            <a:pPr algn="l" marL="228600" indent="-201168">
              <a:spcAft>
                <a:spcPts val="1400"/>
              </a:spcAft>
              <a:buChar char="•"/>
            </a:pPr>
            <a:r>
              <a:rPr sz="1600" b="0">
                <a:solidFill>
                  <a:srgbClr val="0F0F0F"/>
                </a:solidFill>
                <a:latin typeface="Inter"/>
              </a:rPr>
              <a:t>Slik vi leser profilen: premium performance med bærekraft og urban bruk.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Ordinære priser, herre, sjekket 19.10.2026 i merkenes norske nettbutikker og hos Fjellsport og Anton Sport. «ca.» = omregnet fra SEK (1 SEK ≈ 1,006 NOK) eller nærmeste tilsvarende produkt (antatt). Prisindeks: egen beregning.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OSLO: TIDLIGERE BUTIKK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Hegdehaugsveien var 70 m² utenfor klyngen. Akersgata 41 gir fem ganger arealet midt i 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10047" cy="288036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8614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2016/17 TIL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8614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0F0F"/>
                </a:solidFill>
                <a:latin typeface="Inter"/>
              </a:rPr>
              <a:t>Houdini Hub, Hegdehaugsveien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486140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70 m², tegnet av Snøhetta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Utenfor klyngen av tekniske outdoormerker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Stengt i 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691640"/>
            <a:ext cx="5410047" cy="2880360"/>
          </a:xfrm>
          <a:prstGeom prst="rect">
            <a:avLst/>
          </a:prstGeom>
          <a:solidFill>
            <a:srgbClr val="F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28800"/>
            <a:ext cx="48614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E6F45"/>
                </a:solidFill>
                <a:latin typeface="Inter"/>
              </a:rPr>
              <a:t>FORSLAG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148840"/>
            <a:ext cx="48614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0F0F"/>
                </a:solidFill>
                <a:latin typeface="Inter"/>
              </a:rPr>
              <a:t>Houdini Circle Oslo, Akersgata 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697480"/>
            <a:ext cx="486140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365 m² på to plan: butikk på gateplan, verksted, utleie og lager i underetasjen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Vegg i vegg med Klättermusen, nær Norrøna, to minutter til Arc’teryx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Til leie hos Thon Eiendom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Houdini Norway AS omsatte for 9,6 MNOK i 2025 gjennom forhandlere og nett, uten egen butikk i Norge.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Houdini Circle åpnet i Stockholm i 2023 som test, med mulighet for flere markeder. Oslo kan være aktuelt hvis det passer Houdinis planer.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Kilder: Houdini journal og e-architect (Oslo-butikken, 70 m²). Stengt 2022: Google, antatt. Proff (Houdini Sportswear Norway AS, 2025). houdinisportswear.com (Houdini Circle, 28.09.2023). FINN 418714773 (Akersgata 41, oppdatert 02.03.2026).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OSLO: KONKURRENTER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De nærmeste konkurrentene ligger innen to minutters gange fra hverandre ved Egertorget</a:t>
            </a:r>
          </a:p>
        </p:txBody>
      </p:sp>
      <p:pic>
        <p:nvPicPr>
          <p:cNvPr id="5" name="Picture 4" descr="oslo_map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516403" cy="45262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339363" y="1737360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8275" y="1700784"/>
            <a:ext cx="49562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Arc’teryx, Karl Johans gate 21. 361 m², juni 2026</a:t>
            </a:r>
          </a:p>
        </p:txBody>
      </p:sp>
      <p:sp>
        <p:nvSpPr>
          <p:cNvPr id="8" name="Oval 7"/>
          <p:cNvSpPr/>
          <p:nvPr/>
        </p:nvSpPr>
        <p:spPr>
          <a:xfrm>
            <a:off x="6339363" y="2167128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8275" y="2130552"/>
            <a:ext cx="49562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Fjällräven, Karl Johans gate 19. 310 m²</a:t>
            </a:r>
          </a:p>
        </p:txBody>
      </p:sp>
      <p:sp>
        <p:nvSpPr>
          <p:cNvPr id="10" name="Oval 9"/>
          <p:cNvSpPr/>
          <p:nvPr/>
        </p:nvSpPr>
        <p:spPr>
          <a:xfrm>
            <a:off x="6339363" y="2596896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8275" y="2560320"/>
            <a:ext cx="49562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Peak Performance, Karl Johans gate 18</a:t>
            </a:r>
          </a:p>
        </p:txBody>
      </p:sp>
      <p:sp>
        <p:nvSpPr>
          <p:cNvPr id="12" name="Oval 11"/>
          <p:cNvSpPr/>
          <p:nvPr/>
        </p:nvSpPr>
        <p:spPr>
          <a:xfrm>
            <a:off x="6339363" y="3026664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8275" y="2990088"/>
            <a:ext cx="49562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Norrøna, Akersgata 30. Flaggskip</a:t>
            </a:r>
          </a:p>
        </p:txBody>
      </p:sp>
      <p:sp>
        <p:nvSpPr>
          <p:cNvPr id="14" name="Oval 13"/>
          <p:cNvSpPr/>
          <p:nvPr/>
        </p:nvSpPr>
        <p:spPr>
          <a:xfrm>
            <a:off x="6339363" y="3456432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8275" y="3419856"/>
            <a:ext cx="49562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Klättermusen, Akersgata 43. 282 m², 2025</a:t>
            </a:r>
          </a:p>
        </p:txBody>
      </p:sp>
      <p:sp>
        <p:nvSpPr>
          <p:cNvPr id="16" name="Oval 15"/>
          <p:cNvSpPr/>
          <p:nvPr/>
        </p:nvSpPr>
        <p:spPr>
          <a:xfrm>
            <a:off x="6339363" y="3886200"/>
            <a:ext cx="310896" cy="310896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8275" y="3849624"/>
            <a:ext cx="49562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Houdini, alternativ A: Karl Johan</a:t>
            </a:r>
          </a:p>
        </p:txBody>
      </p:sp>
      <p:sp>
        <p:nvSpPr>
          <p:cNvPr id="18" name="Oval 17"/>
          <p:cNvSpPr/>
          <p:nvPr/>
        </p:nvSpPr>
        <p:spPr>
          <a:xfrm>
            <a:off x="6339363" y="4315968"/>
            <a:ext cx="310896" cy="310896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8275" y="4279392"/>
            <a:ext cx="49562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Houdini, alternativ B: Akersgata 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9363" y="4800600"/>
            <a:ext cx="53951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Karl Johan: ca. 4 500 forbipasserende i timen på hverdager og 8 000 på lørdager (antatt, utleiers tall).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Oslo hadde 6,93 mill. gjestedøgn i 2025, rekord for tredje år på rad.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Plassering på kvartalsnivå. Kilder: Thon Eiendom (udatert), VisitOslo driftsåret 2025, FashionUnited 23.06.2026 (Arc’teryx), Fjällräven, Klättermusen, FINN 418714773. Kart: © OpenStreetMap-bidragsytere.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OSLO: KONKURRENTER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Konkurrentene satser på fagfolk og reparasjon i butikken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2377440"/>
                <a:gridCol w="4023360"/>
                <a:gridCol w="3230575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Merke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Segment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Norsk selskap, driftsinntekter 2025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Butikk i Oslo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Arc’teryx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Teknisk alpint premium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Amer Sports Norge AS: 444 MNOK (flere merker)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Karl Johans gate 21, med reparasjon og vask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Norrøna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Teknisk alpint premium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Norrøna Sport AS: ca. 805 MNOK. Butikkene: 284 MNOK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Akersgata 30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Fjällräven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Skandinavisk premium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Fenix Outdoor Norge AS: 131 MNOK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Karl Johans gate 19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Klättermusen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Skandinavisk bærekraft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Klättermusen Norge AS: 15 MNOK, underskudd 7 MNOK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Akersgata 43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0F0F"/>
                          </a:solidFill>
                          <a:latin typeface="Inter"/>
                        </a:rPr>
                        <a:t>Bergans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Bredt friluftsmerke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Bergans Fritid AS: 373 MNOK, underskudd 69 MNOK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0F0F"/>
                          </a:solidFill>
                          <a:latin typeface="Inter"/>
                        </a:rPr>
                        <a:t>Ved Rådhuset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709160"/>
            <a:ext cx="11277295" cy="9144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73168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0F0F"/>
                </a:solidFill>
                <a:latin typeface="Inter"/>
              </a:rPr>
              <a:t>Fagfolk selger. </a:t>
            </a:r>
            <a:r>
              <a:rPr sz="1400" b="0">
                <a:solidFill>
                  <a:srgbClr val="0F0F0F"/>
                </a:solidFill>
                <a:latin typeface="Inter"/>
              </a:rPr>
              <a:t>Arc’teryx kaller de ansatte «Product Guides» og ber om lidenskap for friluft. Vi har nettverk til å rekruttere erfarne fagfolk fra sportsbransjen, blant annet fra Bull Ski &amp; Kajakk.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Driftsinntekter for norsk selskap, ikke per butikk. Kilde: Proff og Brønnøysundregistrene via søk 24.10.2026 (antatt, ikke kontrollert mot originalregnskap). Arc’teryx: FashionUnited 23.06.2026, stillingsannonser på jobs.lever.co.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OSLO: BELIGGENHET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Akersgata 41 er til leie og ligger i samme klynge som Karl Johan</a:t>
            </a:r>
          </a:p>
        </p:txBody>
      </p:sp>
      <p:pic>
        <p:nvPicPr>
          <p:cNvPr id="5" name="Picture 4" descr="kj_b_c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4876800" cy="2743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54786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0F0F"/>
                </a:solidFill>
                <a:latin typeface="Inter"/>
              </a:rPr>
              <a:t>Karl Johan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3168"/>
            <a:ext cx="54786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Flest forbipasserende. Fant ingen ledige butikklokaler på gateplan i 2026. Nullpunkt ca. 16 MNOK i netto salg (200 m², 27 000 kr/m²).</a:t>
            </a:r>
          </a:p>
        </p:txBody>
      </p:sp>
      <p:pic>
        <p:nvPicPr>
          <p:cNvPr id="9" name="Picture 8" descr="ak_b_c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600200"/>
            <a:ext cx="4876800" cy="27432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393027" y="1737360"/>
            <a:ext cx="384048" cy="384048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4434840"/>
            <a:ext cx="54786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0F0F"/>
                </a:solidFill>
                <a:latin typeface="Inter"/>
              </a:rPr>
              <a:t>Akersgata 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4773168"/>
            <a:ext cx="54786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365 m²: butikk på gateplan, verksted, utleie og lager i underetasjen. Nullpunkt ca. 11 MNOK i netto salg (antatt husleie).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05856"/>
            <a:ext cx="11277295" cy="50292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05856"/>
            <a:ext cx="10911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E6F45"/>
                </a:solidFill>
                <a:latin typeface="Inter"/>
              </a:rPr>
              <a:t>Til vurdering: Akersgata 41. </a:t>
            </a:r>
            <a:r>
              <a:rPr sz="1300" b="0">
                <a:solidFill>
                  <a:srgbClr val="FFFFFF"/>
                </a:solidFill>
                <a:latin typeface="Inter"/>
              </a:rPr>
              <a:t>Samme naboer, plass til et Circle-konsept og lavere nullpunkt. Husleien må avklares med Thon.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Illustrasjoner av konsept, ikke tegnet etter byggene. Houdini-navnet er lagt inn av oss. Nullpunkt: KJ 200 m² × 27 000 kr; Akersgata 164 m² × 12 000 kr + 201 m² × 4 000 kr (antatt); 65 % bruttomargin, 5 årsverk à 0,75 MNOK, 8 % andre kostnader. Kilder: FINN 418714773, Colliers 2021.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OSLO: ANDRE OMRÅDER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Sandvika Storsenter: 7,9 mill. besøkende i året, med Norrøna og Anton Sport under samme tak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3108960"/>
                <a:gridCol w="3657600"/>
                <a:gridCol w="2133295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Område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Besøkende og omsetning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Konkurrenter i området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Kundegrunnlag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Sentrum: Karl Johan og Akersgata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ca. 4 500 forbi i timen på hverdager (Karl Johan)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Arc’teryx, Fjällräven, Peak Performance, Norrøna flaggskip, Klättermusen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Byfolk og turister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Sandvika Storsenter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7,9 mill. besøkende, 3 759 MNOK, 196 butikker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Norrøna konseptbutikk, Anton Sport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Bærum og Asker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CC Vest, Lilleaker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1 425 MNOK første halvår 2025 (+4,9 %), 78 butikker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Norrøna Concept Store, Anton Sport. Norrøna House på Lysaker i nærheten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Oslo vest og østre Bærum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Storo Storsenter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1 653 MNOK første halvår 2025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Norrøna (ikke bekreftet)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Oslo nord og øst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0F0F"/>
                          </a:solidFill>
                          <a:latin typeface="Inter"/>
                        </a:rPr>
                        <a:t>Strømmen Storsenter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Over 4 000 MNOK i 2025, flest i Thon-porteføljen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Ingen premium outdoor bekreftet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0F0F"/>
                          </a:solidFill>
                          <a:latin typeface="Inter"/>
                        </a:rPr>
                        <a:t>Romerike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166360"/>
            <a:ext cx="11277295" cy="6858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1153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0F0F"/>
                </a:solidFill>
                <a:latin typeface="Inter"/>
              </a:rPr>
              <a:t>Thon Eiendom står bak Akersgata 41, Sandvika, Storo og Strømmen. </a:t>
            </a:r>
            <a:r>
              <a:rPr sz="1300" b="0">
                <a:solidFill>
                  <a:srgbClr val="0F0F0F"/>
                </a:solidFill>
                <a:latin typeface="Inter"/>
              </a:rPr>
              <a:t>Én samtale med gårdeier kan dekke flere alternativer. Husleie og ledige lokaler i sentrene er ikke undersøkt.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Butikker ifølge sentrenes egne sider, Brønnøysundregistrene og stillingsannonser, ikke kontrollert på stedet. Kilder: Thon Eiendom (Sandvika, udatert), Norsk Retail Hub via Finansavisen 16.07.2025 (første halvår 2025), Thon pressemelding 2026 (Strømmen), Thon Eiendom (Karl Johan, antatt).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OSLO: KONSEPT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Idé: butikk, reparasjon og utleie i samme rom, etter modell av Houdini Circle</a:t>
            </a:r>
          </a:p>
        </p:txBody>
      </p:sp>
      <p:pic>
        <p:nvPicPr>
          <p:cNvPr id="5" name="Picture 4" descr="interior_b_c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406640" cy="41662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91640"/>
            <a:ext cx="350489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1600"/>
              </a:spcAft>
              <a:buChar char="•"/>
            </a:pPr>
            <a:r>
              <a:rPr sz="1600" b="0">
                <a:solidFill>
                  <a:srgbClr val="0F0F0F"/>
                </a:solidFill>
                <a:latin typeface="Inter"/>
              </a:rPr>
              <a:t>Houdini Circle i Stockholm samler kjøp, leie, reparasjon og brukt. Konseptet ble åpnet som test i 2023.</a:t>
            </a:r>
          </a:p>
          <a:p>
            <a:pPr algn="l" marL="228600" indent="-201168">
              <a:spcAft>
                <a:spcPts val="1600"/>
              </a:spcAft>
              <a:buChar char="•"/>
            </a:pPr>
            <a:r>
              <a:rPr sz="1600" b="0">
                <a:solidFill>
                  <a:srgbClr val="0F0F0F"/>
                </a:solidFill>
                <a:latin typeface="Inter"/>
              </a:rPr>
              <a:t>Arc’teryx åpnet reparasjon og vask i Karl Johans gate 21 i juni 2026. Et Circle-konsept kan skille Houdini tydelig fra dette.</a:t>
            </a:r>
          </a:p>
          <a:p>
            <a:pPr algn="l" marL="228600" indent="-201168">
              <a:spcAft>
                <a:spcPts val="1600"/>
              </a:spcAft>
              <a:buChar char="•"/>
            </a:pPr>
            <a:r>
              <a:rPr sz="1600" b="0">
                <a:solidFill>
                  <a:srgbClr val="0F0F0F"/>
                </a:solidFill>
                <a:latin typeface="Inter"/>
              </a:rPr>
              <a:t>Underetasjen i Akersgata 41 har plass til verksted og utleielager.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Illustrasjon av konsept. Kilder: houdinisportswear.com og Suston Magazine 02.10.2023 (Houdini Circle), FashionUnited 23.06.2026 (Arc’teryx ReBIRD).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TROMSØ: MARKED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Norrøna og Bergans har egne butikker i Tromsø. Vi fant ingen som fører Houdini i Nord-Norge</a:t>
            </a:r>
          </a:p>
        </p:txBody>
      </p:sp>
      <p:pic>
        <p:nvPicPr>
          <p:cNvPr id="5" name="Picture 4" descr="tromso_map_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410221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3181" y="16459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E6F45"/>
                </a:solidFill>
                <a:latin typeface="Inter"/>
              </a:rPr>
              <a:t>1,31 mill.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3181" y="2194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A86"/>
                </a:solidFill>
                <a:latin typeface="Inter"/>
              </a:rPr>
              <a:t>gjestedøgn i 2025, +10,3 %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0621" y="16459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E6F45"/>
                </a:solidFill>
                <a:latin typeface="Inter"/>
              </a:rPr>
              <a:t>59 %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0621" y="2194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A86"/>
                </a:solidFill>
                <a:latin typeface="Inter"/>
              </a:rPr>
              <a:t>utenlandske, +20,7 %</a:t>
            </a:r>
          </a:p>
        </p:txBody>
      </p:sp>
      <p:sp>
        <p:nvSpPr>
          <p:cNvPr id="10" name="Oval 9"/>
          <p:cNvSpPr/>
          <p:nvPr/>
        </p:nvSpPr>
        <p:spPr>
          <a:xfrm>
            <a:off x="5233181" y="2788920"/>
            <a:ext cx="310896" cy="310896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2093" y="2752344"/>
            <a:ext cx="606240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Mack Kvartalet, Storgata 5. Houdini, forslag</a:t>
            </a:r>
          </a:p>
        </p:txBody>
      </p:sp>
      <p:sp>
        <p:nvSpPr>
          <p:cNvPr id="12" name="Oval 11"/>
          <p:cNvSpPr/>
          <p:nvPr/>
        </p:nvSpPr>
        <p:spPr>
          <a:xfrm>
            <a:off x="5233181" y="3172968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2093" y="3136392"/>
            <a:ext cx="606240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Norrøna, Alti Nerstranda. Egen butikkdrift</a:t>
            </a:r>
          </a:p>
        </p:txBody>
      </p:sp>
      <p:sp>
        <p:nvSpPr>
          <p:cNvPr id="14" name="Oval 13"/>
          <p:cNvSpPr/>
          <p:nvPr/>
        </p:nvSpPr>
        <p:spPr>
          <a:xfrm>
            <a:off x="5233181" y="3557016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72093" y="3520440"/>
            <a:ext cx="606240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Bergans, Prostneset havneterminal</a:t>
            </a:r>
          </a:p>
        </p:txBody>
      </p:sp>
      <p:sp>
        <p:nvSpPr>
          <p:cNvPr id="16" name="Oval 15"/>
          <p:cNvSpPr/>
          <p:nvPr/>
        </p:nvSpPr>
        <p:spPr>
          <a:xfrm>
            <a:off x="5233181" y="3941064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2093" y="3904488"/>
            <a:ext cx="606240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Naturkompaniet, Storgata 52. Fenix Outdoor</a:t>
            </a:r>
          </a:p>
        </p:txBody>
      </p:sp>
      <p:sp>
        <p:nvSpPr>
          <p:cNvPr id="18" name="Oval 17"/>
          <p:cNvSpPr/>
          <p:nvPr/>
        </p:nvSpPr>
        <p:spPr>
          <a:xfrm>
            <a:off x="5233181" y="4325112"/>
            <a:ext cx="310896" cy="310896"/>
          </a:xfrm>
          <a:prstGeom prst="ellipse">
            <a:avLst/>
          </a:prstGeom>
          <a:solidFill>
            <a:srgbClr val="2D2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2093" y="4288536"/>
            <a:ext cx="606240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Nansen Outdoor, Storgata 61. Helly Hansen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3181" y="4800600"/>
            <a:ext cx="650131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Utenfor kartet: Tromsø Ski &amp; Sykkel 48 MNOK, Pyramiden Sport 42 MNOK og Sport 1 Jekta 38 MNOK (2025). De fører blant annet Arc’teryx og Norrøna.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F0F0F"/>
                </a:solidFill>
                <a:latin typeface="Inter"/>
              </a:rPr>
              <a:t>Oransje strek: kaiene mellom Mack og Strandtorget, eid av Tromsø Havn.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Plassering ca. Kilder: Visit Tromsø 2025 (Airbnb ikke med), Proff via søk 24.10.2026, Alti Nerstranda, Bergans, OI Compass 2023, Visit Norway, Tromsø Havn. Kart: © OpenStreetMap-bidragsytere.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TROMSØ: MACK KVARTALET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Mulig plassering i markedsgata, under samme tak som Nord-Norges største hotell</a:t>
            </a:r>
          </a:p>
        </p:txBody>
      </p:sp>
      <p:pic>
        <p:nvPicPr>
          <p:cNvPr id="5" name="Picture 4" descr="mack_markedsgate_houd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589520" cy="4269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E6F45"/>
                </a:solidFill>
                <a:latin typeface="Inter"/>
              </a:rPr>
              <a:t>351 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075688"/>
            <a:ext cx="3322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A86"/>
                </a:solidFill>
                <a:latin typeface="Inter"/>
              </a:rPr>
              <a:t>Citybox, største hotell i Nord-Norge etter antall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670048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0F0F"/>
                </a:solidFill>
                <a:latin typeface="Inter"/>
              </a:rPr>
              <a:t>ca. 150 000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099816"/>
            <a:ext cx="3322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A86"/>
                </a:solidFill>
                <a:latin typeface="Inter"/>
              </a:rPr>
              <a:t>gjestedøgn i året i hotellet (anslag)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694176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0F0F"/>
                </a:solidFill>
                <a:latin typeface="Inter"/>
              </a:rPr>
              <a:t>ca. 5 300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123944"/>
            <a:ext cx="3322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A86"/>
                </a:solidFill>
                <a:latin typeface="Inter"/>
              </a:rPr>
              <a:t>handel og servering under tak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18304"/>
            <a:ext cx="3322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0F0F"/>
                </a:solidFill>
                <a:latin typeface="Inter"/>
              </a:rPr>
              <a:t>Sommer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148072"/>
            <a:ext cx="3322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A86"/>
                </a:solidFill>
                <a:latin typeface="Inter"/>
              </a:rPr>
              <a:t>planlagt åpning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Stillbilde fra film: Eiendomsspar / Mack Kvartalet. Houdini-skiltet er lagt inn av oss som forslag. Anslag: 75 % belegg, 1,6 gjester per rom. 5 300 m² = 8 000 m² minus ca. 2 700 m² kontor. Kilder: eiendomsspar.no, cityboxhotels.com (2026).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TROMSØ: MACK KVARTALET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Lokale 1.01 A har inngang både fra gaten og fra markedsgata</a:t>
            </a:r>
          </a:p>
        </p:txBody>
      </p:sp>
      <p:pic>
        <p:nvPicPr>
          <p:cNvPr id="5" name="Picture 4" descr="plan_houd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822319" cy="3657600"/>
          </a:xfrm>
          <a:prstGeom prst="rect">
            <a:avLst/>
          </a:prstGeom>
        </p:spPr>
      </p:pic>
      <p:pic>
        <p:nvPicPr>
          <p:cNvPr id="6" name="Picture 5" descr="v-0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839" y="1600200"/>
            <a:ext cx="3180656" cy="17891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53839" y="3462471"/>
            <a:ext cx="31806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A86"/>
                </a:solidFill>
                <a:latin typeface="Inter"/>
              </a:rPr>
              <a:t>Citybox-hotellet og Mack Kvartalet ved sjøen, med Ishavskatedralen i bakgrunnen.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0F0F"/>
                </a:solidFill>
                <a:latin typeface="Inter"/>
              </a:rPr>
              <a:t>Nybygget overleveres sommeren 2027, så innredningen kan tegnes inn før overtakelse, uten riving. Tromsø Havn planlegger kaipromenade og flytebrygger foran kvartalet (planinitiativ, ikke vedtatt).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Plantegning og stillbilde fra film: Eiendomsspar / Mack Kvartalet. Houdini er tegnet inn av oss som forslag. Areal, vilkår og tilgjengelighet er ikke avklart med Eiendomsspar. Kilde kai: tromso.havn.no.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TROMSØ: TRINNVIS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Tromsø kan testes med vinterutleie før en eventuell fast butikk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1004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E6F45"/>
                </a:solidFill>
                <a:latin typeface="Inter"/>
              </a:rPr>
              <a:t>TRINN 1: VINTERSESONG, FEM MÅNEDER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10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0F0F"/>
                </a:solidFill>
                <a:latin typeface="Inter"/>
              </a:rPr>
              <a:t>Pop-up med salg og utleie i Storgata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06040"/>
          <a:ext cx="5410047" cy="1234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102309"/>
                <a:gridCol w="1102309"/>
                <a:gridCol w="1102309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MNOK, netto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Nedside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Basis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Oppside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C1F1D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Netto salg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1,2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2,0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3,0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0F0F"/>
                          </a:solidFill>
                          <a:latin typeface="Inter"/>
                        </a:rPr>
                        <a:t>Resultat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-0,4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+0,1</a:t>
                      </a:r>
                    </a:p>
                  </a:txBody>
                  <a:tcPr marL="73152" marR="73152" marT="27432" marB="27432" anchor="ctr">
                    <a:solidFill>
                      <a:srgbClr val="FFEB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0F0F"/>
                          </a:solidFill>
                          <a:latin typeface="Inter"/>
                        </a:rPr>
                        <a:t>+0,6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77639"/>
            <a:ext cx="54100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0F0F0F"/>
                </a:solidFill>
                <a:latin typeface="Inter"/>
              </a:rPr>
              <a:t>60 m², to årsverk, toppleie ca. 3 635 kr/m² i Tromsø.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0F0F0F"/>
                </a:solidFill>
                <a:latin typeface="Inter"/>
              </a:rPr>
              <a:t>Utleie gir oppside: turister leier ofte klær framfor å kjøpe, og Houdini har drevet utleie siden 2012.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691640"/>
            <a:ext cx="5410047" cy="3749039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28800"/>
            <a:ext cx="48614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E6F45"/>
                </a:solidFill>
                <a:latin typeface="Inter"/>
              </a:rPr>
              <a:t>TRINN 2: SOMMER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148840"/>
            <a:ext cx="48614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0F0F"/>
                </a:solidFill>
                <a:latin typeface="Inter"/>
              </a:rPr>
              <a:t>Mulig fast butikk i Mack Kvartalet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743200"/>
            <a:ext cx="486140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400" b="0">
                <a:solidFill>
                  <a:srgbClr val="0F0F0F"/>
                </a:solidFill>
                <a:latin typeface="Inter"/>
              </a:rPr>
              <a:t>Kan åpne samtidig med hotellet, med inngang fra gaten og markedsgata.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400" b="0">
                <a:solidFill>
                  <a:srgbClr val="0F0F0F"/>
                </a:solidFill>
                <a:latin typeface="Inter"/>
              </a:rPr>
              <a:t>Houdini kan beslutte på tallene fra trinn 1.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400" b="0">
                <a:solidFill>
                  <a:srgbClr val="0F0F0F"/>
                </a:solidFill>
                <a:latin typeface="Inter"/>
              </a:rPr>
              <a:t>Partner for utleie og testing: Tromsø Outdoor og guidene i Lyngen.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Anslag (antatt): 65 % bruttomargin, lønn 0,63 MNOK, husleie 0,09 MNOK, innredning og logistikk 0,35 MNOK, 8 % andre kostnader. Utleieinntekter ikke medregnet. Kilder: Advanti Q4 2025 (leie), houdinisportswear.com (utleie siden 2012).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TIDSLINJE OG 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Forprosjektet er gratis og uforpliktende. Houdini velger fritt etter hvert trinn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31720"/>
            <a:ext cx="11277295" cy="36576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194560"/>
            <a:ext cx="310896" cy="310896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7423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Nov.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7423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Møte og befaring i aktuelle lokaler</a:t>
            </a:r>
          </a:p>
        </p:txBody>
      </p:sp>
      <p:sp>
        <p:nvSpPr>
          <p:cNvPr id="9" name="Oval 8"/>
          <p:cNvSpPr/>
          <p:nvPr/>
        </p:nvSpPr>
        <p:spPr>
          <a:xfrm>
            <a:off x="2336749" y="2194560"/>
            <a:ext cx="310896" cy="310896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6749" y="2651760"/>
            <a:ext cx="17423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Des.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6749" y="3017520"/>
            <a:ext cx="17423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Forprosjekt Oslo og Tromsø. Gratis</a:t>
            </a:r>
          </a:p>
        </p:txBody>
      </p:sp>
      <p:sp>
        <p:nvSpPr>
          <p:cNvPr id="12" name="Oval 11"/>
          <p:cNvSpPr/>
          <p:nvPr/>
        </p:nvSpPr>
        <p:spPr>
          <a:xfrm>
            <a:off x="4216298" y="2194560"/>
            <a:ext cx="310896" cy="310896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6298" y="2651760"/>
            <a:ext cx="17423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Q1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6298" y="3017520"/>
            <a:ext cx="17423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Leiekontrakt og fast pris på tegning og produksjon</a:t>
            </a:r>
          </a:p>
        </p:txBody>
      </p:sp>
      <p:sp>
        <p:nvSpPr>
          <p:cNvPr id="15" name="Oval 14"/>
          <p:cNvSpPr/>
          <p:nvPr/>
        </p:nvSpPr>
        <p:spPr>
          <a:xfrm>
            <a:off x="6095847" y="2194560"/>
            <a:ext cx="310896" cy="310896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651760"/>
            <a:ext cx="17423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Vinter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3017520"/>
            <a:ext cx="17423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Pop-up og utleie i Tromsø</a:t>
            </a:r>
          </a:p>
        </p:txBody>
      </p:sp>
      <p:sp>
        <p:nvSpPr>
          <p:cNvPr id="18" name="Oval 17"/>
          <p:cNvSpPr/>
          <p:nvPr/>
        </p:nvSpPr>
        <p:spPr>
          <a:xfrm>
            <a:off x="7975396" y="2194560"/>
            <a:ext cx="310896" cy="310896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5396" y="2651760"/>
            <a:ext cx="17423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Sommer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5396" y="3017520"/>
            <a:ext cx="17423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Butikk i Mack Kvartalet</a:t>
            </a:r>
          </a:p>
        </p:txBody>
      </p:sp>
      <p:sp>
        <p:nvSpPr>
          <p:cNvPr id="21" name="Oval 20"/>
          <p:cNvSpPr/>
          <p:nvPr/>
        </p:nvSpPr>
        <p:spPr>
          <a:xfrm>
            <a:off x="9854945" y="2194560"/>
            <a:ext cx="310896" cy="310896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4945" y="2651760"/>
            <a:ext cx="17423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Høst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4945" y="3017520"/>
            <a:ext cx="17423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0F0F"/>
                </a:solidFill>
                <a:latin typeface="Inter"/>
              </a:rPr>
              <a:t>Mulig åpning i Oslo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112772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Forprosjekt: </a:t>
            </a:r>
            <a:r>
              <a:rPr sz="1500" b="0">
                <a:solidFill>
                  <a:srgbClr val="0F0F0F"/>
                </a:solidFill>
                <a:latin typeface="Inter"/>
              </a:rPr>
              <a:t>konsept, planløsning og illustrasjoner, uten kostnad og uten forpliktelse.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Tegning, produksjon og montasje: </a:t>
            </a:r>
            <a:r>
              <a:rPr sz="1500" b="0">
                <a:solidFill>
                  <a:srgbClr val="0F0F0F"/>
                </a:solidFill>
                <a:latin typeface="Inter"/>
              </a:rPr>
              <a:t>fast pris per trinn, som Houdini godkjenner før oppstart.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Lokale og forhandling: </a:t>
            </a:r>
            <a:r>
              <a:rPr sz="1500" b="0">
                <a:solidFill>
                  <a:srgbClr val="0F0F0F"/>
                </a:solidFill>
                <a:latin typeface="Inter"/>
              </a:rPr>
              <a:t>Bent fører dialogen med gårdeier, i samarbeid med megleren dere bruker.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Tidslinjen er et forslag og avhenger av lokaler, kontrakter og Houdinis egne beslutninger.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LEVERANSE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SODAI leverer butikken fra første skisse til nøkkelferdig åpning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109155" cy="237744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7433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0F0F"/>
                </a:solidFill>
                <a:latin typeface="Inter"/>
              </a:rPr>
              <a:t>Lokale og vilkår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7433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0F0F"/>
                </a:solidFill>
                <a:latin typeface="Inter"/>
              </a:rPr>
              <a:t>Søk, befaring og forhandling med gårdeier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9235" y="1828800"/>
            <a:ext cx="2109155" cy="237744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32115" y="2011680"/>
            <a:ext cx="384048" cy="384048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5" y="2560320"/>
            <a:ext cx="17433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Inter"/>
              </a:rPr>
              <a:t>Forprosjekt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2115" y="3246120"/>
            <a:ext cx="17433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Inter"/>
              </a:rPr>
              <a:t>Konsept, planløsning og illustrasjoner. Gratis.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1270" y="1828800"/>
            <a:ext cx="2109155" cy="237744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24150" y="2011680"/>
            <a:ext cx="384048" cy="384048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4150" y="2560320"/>
            <a:ext cx="17433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0F0F"/>
                </a:solidFill>
                <a:latin typeface="Inter"/>
              </a:rPr>
              <a:t>Tegning og kalkyle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4150" y="3246120"/>
            <a:ext cx="17433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0F0F"/>
                </a:solidFill>
                <a:latin typeface="Inter"/>
              </a:rPr>
              <a:t>Arbeidstegninger og fast pris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305" y="1828800"/>
            <a:ext cx="2109155" cy="237744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16185" y="2011680"/>
            <a:ext cx="384048" cy="384048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185" y="2560320"/>
            <a:ext cx="17433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0F0F"/>
                </a:solidFill>
                <a:latin typeface="Inter"/>
              </a:rPr>
              <a:t>Produksjon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185" y="3246120"/>
            <a:ext cx="17433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0F0F"/>
                </a:solidFill>
                <a:latin typeface="Inter"/>
              </a:rPr>
              <a:t>Egen snekkermester og møbeltapetserer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25340" y="1828800"/>
            <a:ext cx="2109155" cy="237744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08220" y="2011680"/>
            <a:ext cx="384048" cy="384048"/>
          </a:xfrm>
          <a:prstGeom prst="ellipse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8220" y="2560320"/>
            <a:ext cx="17433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0F0F"/>
                </a:solidFill>
                <a:latin typeface="Inter"/>
              </a:rPr>
              <a:t>Montasje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8220" y="3246120"/>
            <a:ext cx="17433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0F0F"/>
                </a:solidFill>
                <a:latin typeface="Inter"/>
              </a:rPr>
              <a:t>Eget montasjeteam overleverer klart til åpning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772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0F0F"/>
                </a:solidFill>
                <a:latin typeface="Inter"/>
              </a:rPr>
              <a:t>SODAI: </a:t>
            </a:r>
            <a:r>
              <a:rPr sz="1500" b="0">
                <a:solidFill>
                  <a:srgbClr val="0F0F0F"/>
                </a:solidFill>
                <a:latin typeface="Inter"/>
              </a:rPr>
              <a:t>etablert 2013, 13 ansatte og Gasellebedrift. Interiørarkitekt, teknisk tegner, snekkermester, møbeltapetserer og eget montasjeteam. Prosjekter i Norge og utlandet.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Kilde: SODAI.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REFERANSE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SODAI har levert en skreddersydd merkevarebutikk før: FFK concept store i Fredrikstad, 2025</a:t>
            </a:r>
          </a:p>
        </p:txBody>
      </p:sp>
      <p:pic>
        <p:nvPicPr>
          <p:cNvPr id="5" name="Picture 4" descr="ffk_hero_c7135063x39593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135063" cy="3959352"/>
          </a:xfrm>
          <a:prstGeom prst="rect">
            <a:avLst/>
          </a:prstGeom>
        </p:spPr>
      </p:pic>
      <p:pic>
        <p:nvPicPr>
          <p:cNvPr id="6" name="Picture 5" descr="ffk_3_c1x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143" y="1691640"/>
            <a:ext cx="1888236" cy="1888236"/>
          </a:xfrm>
          <a:prstGeom prst="rect">
            <a:avLst/>
          </a:prstGeom>
        </p:spPr>
      </p:pic>
      <p:pic>
        <p:nvPicPr>
          <p:cNvPr id="7" name="Picture 6" descr="ffk_2_c1x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59" y="1691640"/>
            <a:ext cx="1888236" cy="1888236"/>
          </a:xfrm>
          <a:prstGeom prst="rect">
            <a:avLst/>
          </a:prstGeom>
        </p:spPr>
      </p:pic>
      <p:pic>
        <p:nvPicPr>
          <p:cNvPr id="8" name="Picture 7" descr="ffk_0_c1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5143" y="3762756"/>
            <a:ext cx="1888236" cy="1888236"/>
          </a:xfrm>
          <a:prstGeom prst="rect">
            <a:avLst/>
          </a:prstGeom>
        </p:spPr>
      </p:pic>
      <p:pic>
        <p:nvPicPr>
          <p:cNvPr id="9" name="Picture 8" descr="ffk_7_c1x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6259" y="3762756"/>
            <a:ext cx="1888236" cy="18882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88152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0F0F"/>
                </a:solidFill>
                <a:latin typeface="Inter"/>
              </a:rPr>
              <a:t>Levert: </a:t>
            </a:r>
            <a:r>
              <a:rPr sz="1400" b="0">
                <a:solidFill>
                  <a:srgbClr val="0F0F0F"/>
                </a:solidFill>
                <a:latin typeface="Inter"/>
              </a:rPr>
              <a:t>garderober, utstillingshyller, kassadisk med lampe, speil, podium og bordet «Plankehaugen». Alt skreddersydd for klubbens egen butikk: lyssatte hyller, sorte draktnisjer og stablet heltre.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91072"/>
            <a:ext cx="11277295" cy="4114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Kunde: Fredrikstad Fotballklubb (FFK). Bilder og leveranse: sodai.no/prosjekter/ffk-concept-store (hentet 24.10.2026).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A86"/>
                </a:solidFill>
                <a:latin typeface="Inter"/>
              </a:rPr>
              <a:t>NESTE STEG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095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A8A86"/>
                </a:solidFill>
                <a:latin typeface="Inter"/>
              </a:rPr>
              <a:t>Forslag til Houdini Sportswear  ·  Bent Finset / SODAI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0F0F"/>
                </a:solidFill>
                <a:latin typeface="Inter"/>
              </a:rPr>
              <a:t>Et møte på 30 minutter, og et gratis forprosjekt for Oslo og Tromsø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100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0F0F"/>
                </a:solidFill>
                <a:latin typeface="Inter"/>
              </a:rPr>
              <a:t>Bent Finset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41004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Director of Expansion, Establishment &amp; Concept i Olivia Restauranter: bygget etableringsapparatet gjennom veksten fra 175 MNOK til 1,2 mrd. kr i Norden.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Kommersielt direktøransvar i 4Service / Compass Group, 280 MNOK.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500" b="0">
                <a:solidFill>
                  <a:srgbClr val="0F0F0F"/>
                </a:solidFill>
                <a:latin typeface="Inter"/>
              </a:rPr>
              <a:t>Leder i dag etableringsprosjekter med SODAI og eiendomsutviklere, fra lokale til nøkkelferdig drift.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691640"/>
            <a:ext cx="5410047" cy="384048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874519"/>
            <a:ext cx="486140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0F0F"/>
                </a:solidFill>
                <a:latin typeface="Inter"/>
              </a:rPr>
              <a:t>Forslag til neste steg</a:t>
            </a:r>
          </a:p>
        </p:txBody>
      </p:sp>
      <p:sp>
        <p:nvSpPr>
          <p:cNvPr id="9" name="Oval 8"/>
          <p:cNvSpPr/>
          <p:nvPr/>
        </p:nvSpPr>
        <p:spPr>
          <a:xfrm>
            <a:off x="6598767" y="2468880"/>
            <a:ext cx="365760" cy="365760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2450592"/>
            <a:ext cx="435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F0F0F"/>
                </a:solidFill>
                <a:latin typeface="Inter"/>
              </a:rPr>
              <a:t>Møte på Teams eller i Stockholm i uke 45.</a:t>
            </a:r>
          </a:p>
        </p:txBody>
      </p:sp>
      <p:sp>
        <p:nvSpPr>
          <p:cNvPr id="11" name="Oval 10"/>
          <p:cNvSpPr/>
          <p:nvPr/>
        </p:nvSpPr>
        <p:spPr>
          <a:xfrm>
            <a:off x="6598767" y="3337560"/>
            <a:ext cx="365760" cy="365760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1687" y="3319272"/>
            <a:ext cx="435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F0F0F"/>
                </a:solidFill>
                <a:latin typeface="Inter"/>
              </a:rPr>
              <a:t>Befaring i Akersgata 41 og Sandvika Storsenter, og avklaring med Eiendomsspar om Mack Kvartalet.</a:t>
            </a:r>
          </a:p>
        </p:txBody>
      </p:sp>
      <p:sp>
        <p:nvSpPr>
          <p:cNvPr id="13" name="Oval 12"/>
          <p:cNvSpPr/>
          <p:nvPr/>
        </p:nvSpPr>
        <p:spPr>
          <a:xfrm>
            <a:off x="6598767" y="4206240"/>
            <a:ext cx="365760" cy="365760"/>
          </a:xfrm>
          <a:prstGeom prst="ellipse">
            <a:avLst/>
          </a:prstGeom>
          <a:solidFill>
            <a:srgbClr val="FE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4187952"/>
            <a:ext cx="43584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F0F0F"/>
                </a:solidFill>
                <a:latin typeface="Inter"/>
              </a:rPr>
              <a:t>Forprosjekt med illustrasjoner for Oslo og Tromsø. Gratis.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0F0F"/>
                </a:solidFill>
                <a:latin typeface="Inter"/>
              </a:rPr>
              <a:t>Bent Finset  </a:t>
            </a:r>
            <a:r>
              <a:rPr sz="1400" b="0">
                <a:solidFill>
                  <a:srgbClr val="0F0F0F"/>
                </a:solidFill>
                <a:latin typeface="Inter"/>
              </a:rPr>
              <a:t>906 61 927  ·  bent@odeon.no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